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9" r:id="rId3"/>
    <p:sldId id="279" r:id="rId4"/>
    <p:sldId id="281" r:id="rId5"/>
    <p:sldId id="277" r:id="rId6"/>
    <p:sldId id="276" r:id="rId7"/>
    <p:sldId id="275" r:id="rId8"/>
    <p:sldId id="282" r:id="rId9"/>
    <p:sldId id="274" r:id="rId10"/>
    <p:sldId id="273" r:id="rId11"/>
    <p:sldId id="272" r:id="rId12"/>
    <p:sldId id="271" r:id="rId13"/>
    <p:sldId id="270" r:id="rId14"/>
    <p:sldId id="269" r:id="rId15"/>
    <p:sldId id="28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AC04B-D8F2-4E38-B695-A7893453844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95324-0609-4D63-81E6-9593E9BC7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77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395324-0609-4D63-81E6-9593E9BC7DC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81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07F18-9B24-DD5A-D0B4-1FA6E65E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265A53-B598-8812-F0B4-CA3B17F7D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E5705-C8F0-8B72-EE94-4024BA50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5FA461-71C1-19D7-3294-0707C24E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D2051-1242-B69C-5122-B9D79647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247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D82A6-57A8-7CE3-A6FC-823597621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C4F695-CF64-E043-52E2-83D6681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C137FE-5FE4-ED5B-DA7C-BFA96EF7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127910-EB8D-313E-244C-3D2EF1F99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3906AC-E076-7EC2-0924-6642DD7D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87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A637D-90ED-5550-E5D7-E2E1F7784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DB5BE1-182F-AFF2-C84C-B22A9C988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92914-99A1-92A1-A825-C58AE7D6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BA7B97-3322-F532-2A3D-546EFB59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A5786-3933-73D1-242A-DDE72D79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772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A50A6-53DF-3E0B-06A5-33BA404B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DB7B15-1CDF-EACA-FC46-AD9CE57CC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A8CB67-D90C-73B8-D386-D49CE3910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2DC4BC-A279-BBA0-DBF6-AC4C8F62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D07D1C-07DA-04A0-E9CC-BDB0A12D9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3B9EE6-EE17-5473-D6C9-D3F4B384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95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F037C4-4B80-A641-DD44-7781C1D4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CB2231-6FF1-43A4-ACBD-4E88C1321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DACB71-DF13-09C9-67BF-BA1F0E517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79866B9-C1AA-B8AE-199D-2B2D1B1B5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EDFD38-7284-B256-3ABD-ACB863D34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67B2DC-9779-7C76-54DB-B2494910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E0B8AEC-59E1-A5F1-B98F-45A4B0F3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DE4741-FF3A-6A54-466F-97922EB7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56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E7C8C-729C-1252-6B09-DA088785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3284B0-7CBB-7289-76F1-F0CFAE67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BD3DB75-1010-C80A-A81C-1F5CB178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20BA66-5440-43B9-9EB5-7C88895F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24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8FAA59-2900-BFDE-408B-C3099380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D52EBC-1F23-156C-2892-E82AC2ED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D1ECD0-09C2-3F11-2DCA-CF92EF4E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935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409FA-7B78-676F-3E74-6336C90C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5130D5-DF89-7E4B-CA8E-817EA6157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961CB3-2BA0-9798-C372-F9E462955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19A1B4-AD62-95D7-0ABF-075EFA70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30F921-33DE-9ECC-4AE4-D38F46BF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974403-EA1C-4D77-7D48-6EA170CA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45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51CD0-F281-DCAA-7BE5-BDB14C606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F8602F-1981-2C9A-500A-375C8189D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2059F6-9E5E-DE27-0DEA-271C2D0FC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7AC33D-5015-7649-246D-9B1DD9C1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FC73EC-14CD-01C7-92CB-B0AA9C3E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2A4A83-E90B-343A-9841-E1827CC6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60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B798C-6EA7-2DAB-2119-6BA4D2E2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6F48EB-CA2F-0B17-8A52-D088FB2BD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2D18B0-328C-619A-2A4F-27C4D7CB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873063-061A-B845-FA37-FA26B2AE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5AEED-2AEA-F1B8-4C28-9EFCE12A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2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2C934E-D3B5-D68F-B55E-5E6AB3882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DEFBA0-0E05-FC8D-F6DA-09365AA9F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7931E-DBB5-7F5D-3A9A-F72526B0F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49B799-61A2-A2B2-46D7-6C4F14CD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0C5FE4-7228-2FAE-9684-91705333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56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B208D7-8D7F-88D4-7BB3-935D61ED3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850B4-EBA1-85F5-832E-23492F6C9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95F4FD-98D2-68FA-E1B2-96198748A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3AA8E-7171-4969-9CFA-B6F32033BD2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D2B977-EF91-DEB6-E6B7-5BF8C8A8D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DCB033-418B-486A-E371-B40A8F514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6C36A-36DA-49E5-8D31-7E9A18C83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57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07100B-D20C-5626-A94D-938DF7A12D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2" r="10802"/>
          <a:stretch>
            <a:fillRect/>
          </a:stretch>
        </p:blipFill>
        <p:spPr>
          <a:xfrm>
            <a:off x="1415935" y="923448"/>
            <a:ext cx="9360129" cy="53044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38CA8E-A6E9-A7D2-BC57-5FE3D5C5E97E}"/>
              </a:ext>
            </a:extLst>
          </p:cNvPr>
          <p:cNvSpPr txBox="1"/>
          <p:nvPr/>
        </p:nvSpPr>
        <p:spPr>
          <a:xfrm>
            <a:off x="3729444" y="1047107"/>
            <a:ext cx="49935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0070C0"/>
                </a:solidFill>
              </a:rPr>
              <a:t>Анализ продаж маркетплейса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47231-AF9D-4355-BA8B-2767D19EC326}"/>
              </a:ext>
            </a:extLst>
          </p:cNvPr>
          <p:cNvSpPr txBox="1"/>
          <p:nvPr/>
        </p:nvSpPr>
        <p:spPr>
          <a:xfrm>
            <a:off x="5224549" y="5288221"/>
            <a:ext cx="6093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Исследование выполнил Александр  Глебовский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766173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34948D-2E7D-D840-0DD6-FE585E756447}"/>
              </a:ext>
            </a:extLst>
          </p:cNvPr>
          <p:cNvSpPr txBox="1"/>
          <p:nvPr/>
        </p:nvSpPr>
        <p:spPr>
          <a:xfrm>
            <a:off x="2398222" y="1097280"/>
            <a:ext cx="79428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dirty="0">
                <a:solidFill>
                  <a:srgbClr val="0070C0"/>
                </a:solidFill>
              </a:rPr>
              <a:t>Анализ продаж маркетплейса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95E18-9C7F-7B16-1BAF-8EBA50AA7E3F}"/>
              </a:ext>
            </a:extLst>
          </p:cNvPr>
          <p:cNvSpPr txBox="1"/>
          <p:nvPr/>
        </p:nvSpPr>
        <p:spPr>
          <a:xfrm>
            <a:off x="1479665" y="4242483"/>
            <a:ext cx="9509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Исследование иллюстрирует данные о продажах в США за 2020 год на платформе Amazon.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07B09-B3E7-1B17-3596-91B0A772A169}"/>
              </a:ext>
            </a:extLst>
          </p:cNvPr>
          <p:cNvSpPr txBox="1"/>
          <p:nvPr/>
        </p:nvSpPr>
        <p:spPr>
          <a:xfrm>
            <a:off x="3187931" y="5104257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Данные взяты с сайта </a:t>
            </a:r>
            <a:r>
              <a:rPr lang="ru-RU" dirty="0" err="1"/>
              <a:t>kaggle</a:t>
            </a:r>
            <a:r>
              <a:rPr lang="ru-RU" dirty="0"/>
              <a:t>  </a:t>
            </a:r>
            <a:r>
              <a:rPr lang="en-US" dirty="0"/>
              <a:t>(https://www.kaggle.com/</a:t>
            </a:r>
            <a:r>
              <a:rPr lang="ru-RU" dirty="0"/>
              <a:t>)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D09D8-CBC7-B3DA-B030-6507CD11CE46}"/>
              </a:ext>
            </a:extLst>
          </p:cNvPr>
          <p:cNvSpPr txBox="1"/>
          <p:nvPr/>
        </p:nvSpPr>
        <p:spPr>
          <a:xfrm>
            <a:off x="2436239" y="3165265"/>
            <a:ext cx="75966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 </a:t>
            </a:r>
            <a:r>
              <a:rPr lang="ru-RU" sz="3200" dirty="0"/>
              <a:t>цель исследования - анализ продуктового ассортимента и 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25208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3C987-60DE-F99B-7935-4E1E6171AAA4}"/>
              </a:ext>
            </a:extLst>
          </p:cNvPr>
          <p:cNvSpPr txBox="1"/>
          <p:nvPr/>
        </p:nvSpPr>
        <p:spPr>
          <a:xfrm>
            <a:off x="2351314" y="2967335"/>
            <a:ext cx="747848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2800" dirty="0"/>
              <a:t>1. Охвачен период с 01 01 2020 по 03 12 2020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2800" dirty="0"/>
              <a:t>2. Количество уникальных заказов: 1687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 -   3.Количество уникальных клиентов: 693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A958D-4C96-DF18-64BE-EE0AA108697E}"/>
              </a:ext>
            </a:extLst>
          </p:cNvPr>
          <p:cNvSpPr txBox="1"/>
          <p:nvPr/>
        </p:nvSpPr>
        <p:spPr>
          <a:xfrm>
            <a:off x="3049361" y="769203"/>
            <a:ext cx="6098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dirty="0"/>
              <a:t>Результаты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619397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82833A1-8231-B3FB-17E6-196689235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54"/>
          <a:stretch>
            <a:fillRect/>
          </a:stretch>
        </p:blipFill>
        <p:spPr bwMode="auto">
          <a:xfrm>
            <a:off x="1326000" y="2791429"/>
            <a:ext cx="9540000" cy="28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1F7E68-3B2A-EF62-AE2C-0F9C9B587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753"/>
          <a:stretch>
            <a:fillRect/>
          </a:stretch>
        </p:blipFill>
        <p:spPr bwMode="auto">
          <a:xfrm>
            <a:off x="1326000" y="604158"/>
            <a:ext cx="9540000" cy="227204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06A5CC-E470-7460-795A-BB271370ABC5}"/>
              </a:ext>
            </a:extLst>
          </p:cNvPr>
          <p:cNvSpPr txBox="1"/>
          <p:nvPr/>
        </p:nvSpPr>
        <p:spPr>
          <a:xfrm>
            <a:off x="3657401" y="1216791"/>
            <a:ext cx="6400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Число уникальных пользователей по штатам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FEAA3-C232-5AA2-059C-FF3E65AD84D4}"/>
              </a:ext>
            </a:extLst>
          </p:cNvPr>
          <p:cNvSpPr txBox="1"/>
          <p:nvPr/>
        </p:nvSpPr>
        <p:spPr>
          <a:xfrm>
            <a:off x="4422371" y="3325741"/>
            <a:ext cx="5153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Количество заказов по штатам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92269-EAC3-CBB2-96BB-B5E6F64B987D}"/>
              </a:ext>
            </a:extLst>
          </p:cNvPr>
          <p:cNvSpPr txBox="1"/>
          <p:nvPr/>
        </p:nvSpPr>
        <p:spPr>
          <a:xfrm>
            <a:off x="482139" y="5476838"/>
            <a:ext cx="110226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-  4. по </a:t>
            </a:r>
            <a:r>
              <a:rPr lang="ru-RU" sz="2400" dirty="0" err="1"/>
              <a:t>колич</a:t>
            </a:r>
            <a:r>
              <a:rPr lang="ru-RU" sz="2400" dirty="0"/>
              <a:t>. заказов лидируют Калифорния, Нью Йорк, Техас.</a:t>
            </a:r>
          </a:p>
          <a:p>
            <a:r>
              <a:rPr lang="ru-RU" sz="2400" dirty="0"/>
              <a:t> - </a:t>
            </a:r>
            <a:r>
              <a:rPr lang="ru-RU" sz="2400" dirty="0" err="1"/>
              <a:t>колич</a:t>
            </a:r>
            <a:r>
              <a:rPr lang="ru-RU" sz="2400" dirty="0"/>
              <a:t>. заказов по штатам коррелирует (совпадает, </a:t>
            </a:r>
            <a:r>
              <a:rPr lang="ru-RU" sz="2400" dirty="0" err="1"/>
              <a:t>пропорцианально</a:t>
            </a:r>
            <a:r>
              <a:rPr lang="ru-RU" sz="2400" dirty="0"/>
              <a:t>) с числом клиентов в штатах</a:t>
            </a:r>
          </a:p>
        </p:txBody>
      </p:sp>
    </p:spTree>
    <p:extLst>
      <p:ext uri="{BB962C8B-B14F-4D97-AF65-F5344CB8AC3E}">
        <p14:creationId xmlns:p14="http://schemas.microsoft.com/office/powerpoint/2010/main" val="172806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C61193-42F1-C0A2-2E81-3A31E83EABF0}"/>
              </a:ext>
            </a:extLst>
          </p:cNvPr>
          <p:cNvSpPr txBox="1"/>
          <p:nvPr/>
        </p:nvSpPr>
        <p:spPr>
          <a:xfrm>
            <a:off x="1246909" y="5832409"/>
            <a:ext cx="10046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 - по суммам продаж лидируют Калифорния, Нью Йорк, Вашингтон.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0C8D51-5411-CB6B-0E7B-C54C60768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1958" b="6796"/>
          <a:stretch>
            <a:fillRect/>
          </a:stretch>
        </p:blipFill>
        <p:spPr bwMode="auto">
          <a:xfrm>
            <a:off x="678126" y="-1"/>
            <a:ext cx="10615433" cy="58324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5CF12D-570F-CB0D-FA66-C420D5B85BD6}"/>
              </a:ext>
            </a:extLst>
          </p:cNvPr>
          <p:cNvSpPr txBox="1"/>
          <p:nvPr/>
        </p:nvSpPr>
        <p:spPr>
          <a:xfrm>
            <a:off x="4073236" y="2028306"/>
            <a:ext cx="6184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Распределение сумм продаж по штатам</a:t>
            </a:r>
          </a:p>
        </p:txBody>
      </p:sp>
    </p:spTree>
    <p:extLst>
      <p:ext uri="{BB962C8B-B14F-4D97-AF65-F5344CB8AC3E}">
        <p14:creationId xmlns:p14="http://schemas.microsoft.com/office/powerpoint/2010/main" val="11668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9170FA-C30C-6D58-2F81-5B60E4070511}"/>
              </a:ext>
            </a:extLst>
          </p:cNvPr>
          <p:cNvSpPr txBox="1"/>
          <p:nvPr/>
        </p:nvSpPr>
        <p:spPr>
          <a:xfrm>
            <a:off x="260465" y="5577661"/>
            <a:ext cx="116710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ru-RU" sz="2400" dirty="0"/>
              <a:t>- динамика количества заказов по месяцам (дате заказа.) показывает рост </a:t>
            </a:r>
            <a:r>
              <a:rPr lang="ru-RU" sz="2400" dirty="0" err="1"/>
              <a:t>колич</a:t>
            </a:r>
            <a:r>
              <a:rPr lang="ru-RU" sz="2400" dirty="0"/>
              <a:t> заказов в течение года от 60 (</a:t>
            </a:r>
            <a:r>
              <a:rPr lang="ru-RU" sz="2400" dirty="0" err="1"/>
              <a:t>янв</a:t>
            </a:r>
            <a:r>
              <a:rPr lang="ru-RU" sz="2400" dirty="0"/>
              <a:t>, </a:t>
            </a:r>
            <a:r>
              <a:rPr lang="ru-RU" sz="2400" dirty="0" err="1"/>
              <a:t>февр</a:t>
            </a:r>
            <a:r>
              <a:rPr lang="ru-RU" sz="2400" dirty="0"/>
              <a:t>) до 220 в конце года. </a:t>
            </a:r>
          </a:p>
          <a:p>
            <a:r>
              <a:rPr lang="ru-RU" sz="2400" dirty="0"/>
              <a:t> - аналогично ведет себя сума продаж: растет от 30000 в начале года до 90000 в конце.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AD4852-52EA-7B2A-5238-6E5C0BBC6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854" y="-378947"/>
            <a:ext cx="9405937" cy="3080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C3F14E-8A72-74C9-C0DB-DC27FBFC0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93" y="2761817"/>
            <a:ext cx="9572192" cy="27910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7010B7-B608-AA36-6814-D165BD6E9D69}"/>
              </a:ext>
            </a:extLst>
          </p:cNvPr>
          <p:cNvSpPr txBox="1"/>
          <p:nvPr/>
        </p:nvSpPr>
        <p:spPr>
          <a:xfrm>
            <a:off x="1876555" y="699797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динамика количества заказов по месяцам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5405A-46F3-482A-4334-0483D5B61FED}"/>
              </a:ext>
            </a:extLst>
          </p:cNvPr>
          <p:cNvSpPr txBox="1"/>
          <p:nvPr/>
        </p:nvSpPr>
        <p:spPr>
          <a:xfrm>
            <a:off x="3046615" y="3273428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сума продаж по месяцам</a:t>
            </a:r>
          </a:p>
        </p:txBody>
      </p:sp>
    </p:spTree>
    <p:extLst>
      <p:ext uri="{BB962C8B-B14F-4D97-AF65-F5344CB8AC3E}">
        <p14:creationId xmlns:p14="http://schemas.microsoft.com/office/powerpoint/2010/main" val="78205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318044-69E3-F48B-C108-A869F985E84A}"/>
              </a:ext>
            </a:extLst>
          </p:cNvPr>
          <p:cNvSpPr txBox="1"/>
          <p:nvPr/>
        </p:nvSpPr>
        <p:spPr>
          <a:xfrm>
            <a:off x="931025" y="5843538"/>
            <a:ext cx="10806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- </a:t>
            </a:r>
            <a:r>
              <a:rPr lang="ru-RU" sz="2400" dirty="0"/>
              <a:t>по продажам лидирует категория Технология, замыкает список - Фурнитура;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B05F59-5A5C-B22B-59BC-75F42618A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42" y="183465"/>
            <a:ext cx="10208030" cy="56600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656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32584C-F48F-CE94-324E-9F2CCDA35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282632"/>
            <a:ext cx="10623665" cy="58310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312091-EC49-1DED-E6C8-51EBB21C3FA7}"/>
              </a:ext>
            </a:extLst>
          </p:cNvPr>
          <p:cNvSpPr txBox="1"/>
          <p:nvPr/>
        </p:nvSpPr>
        <p:spPr>
          <a:xfrm>
            <a:off x="2128058" y="6113702"/>
            <a:ext cx="7581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в подкатегориях лидер -Телефоны, аутсайдер - Крепеж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1AEE2-FDAA-91A5-A161-2949CD2BA16C}"/>
              </a:ext>
            </a:extLst>
          </p:cNvPr>
          <p:cNvSpPr txBox="1"/>
          <p:nvPr/>
        </p:nvSpPr>
        <p:spPr>
          <a:xfrm>
            <a:off x="4754880" y="1778924"/>
            <a:ext cx="5785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Распределение продаж по подкатегориям</a:t>
            </a:r>
          </a:p>
        </p:txBody>
      </p:sp>
    </p:spTree>
    <p:extLst>
      <p:ext uri="{BB962C8B-B14F-4D97-AF65-F5344CB8AC3E}">
        <p14:creationId xmlns:p14="http://schemas.microsoft.com/office/powerpoint/2010/main" val="3311079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A16B5-10C1-7129-52F8-7523D9BC1050}"/>
              </a:ext>
            </a:extLst>
          </p:cNvPr>
          <p:cNvSpPr txBox="1"/>
          <p:nvPr/>
        </p:nvSpPr>
        <p:spPr>
          <a:xfrm>
            <a:off x="681645" y="5934670"/>
            <a:ext cx="11006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 </a:t>
            </a:r>
            <a:r>
              <a:rPr lang="ru-RU" sz="2400" dirty="0"/>
              <a:t>распределение продаж по  штатам практически совпадает с распределением заказов по штатам (см. выше) лидируют Калифорния, Нью Йорк, Техас.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EEEAD8-E813-BE52-C161-63E474F5F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15495"/>
          <a:stretch>
            <a:fillRect/>
          </a:stretch>
        </p:blipFill>
        <p:spPr bwMode="auto">
          <a:xfrm>
            <a:off x="0" y="349134"/>
            <a:ext cx="10858384" cy="56852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DE0E02-FF2D-C0CC-967E-D256895E933D}"/>
              </a:ext>
            </a:extLst>
          </p:cNvPr>
          <p:cNvSpPr txBox="1"/>
          <p:nvPr/>
        </p:nvSpPr>
        <p:spPr>
          <a:xfrm>
            <a:off x="4243647" y="2730113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распределение продаж по  штатам </a:t>
            </a:r>
          </a:p>
        </p:txBody>
      </p:sp>
    </p:spTree>
    <p:extLst>
      <p:ext uri="{BB962C8B-B14F-4D97-AF65-F5344CB8AC3E}">
        <p14:creationId xmlns:p14="http://schemas.microsoft.com/office/powerpoint/2010/main" val="160665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E8EF2B-85EF-DA0C-2B81-4BB087B5DCCB}"/>
              </a:ext>
            </a:extLst>
          </p:cNvPr>
          <p:cNvSpPr txBox="1"/>
          <p:nvPr/>
        </p:nvSpPr>
        <p:spPr>
          <a:xfrm>
            <a:off x="432261" y="5610783"/>
            <a:ext cx="11006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 - в распределении по городам -  лидеры - Нью Йорк, Сиэтл, </a:t>
            </a:r>
            <a:r>
              <a:rPr lang="ru-RU" sz="2400" dirty="0" err="1"/>
              <a:t>Лос</a:t>
            </a:r>
            <a:r>
              <a:rPr lang="ru-RU" sz="2400" dirty="0"/>
              <a:t> </a:t>
            </a:r>
            <a:r>
              <a:rPr lang="ru-RU" sz="2400" dirty="0" err="1"/>
              <a:t>Анжелес</a:t>
            </a:r>
            <a:r>
              <a:rPr lang="ru-RU" sz="2400" dirty="0"/>
              <a:t>, расположены в лидирующих штатах (Калифорния, Нью Йорк, Техас)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7D1488-05D6-2FC1-7F70-EF307B7AC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49" y="648393"/>
            <a:ext cx="10676656" cy="47881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DCA911-2887-A851-E7CD-CF924A2FB8D7}"/>
              </a:ext>
            </a:extLst>
          </p:cNvPr>
          <p:cNvSpPr txBox="1"/>
          <p:nvPr/>
        </p:nvSpPr>
        <p:spPr>
          <a:xfrm>
            <a:off x="3740728" y="1986714"/>
            <a:ext cx="543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/>
              <a:t>Распределениие</a:t>
            </a:r>
            <a:r>
              <a:rPr lang="ru-RU" sz="2400" dirty="0"/>
              <a:t> продаж по городам</a:t>
            </a:r>
          </a:p>
        </p:txBody>
      </p:sp>
    </p:spTree>
    <p:extLst>
      <p:ext uri="{BB962C8B-B14F-4D97-AF65-F5344CB8AC3E}">
        <p14:creationId xmlns:p14="http://schemas.microsoft.com/office/powerpoint/2010/main" val="4245524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275105-ED5A-DDD1-7964-FA758E9CD0F8}"/>
              </a:ext>
            </a:extLst>
          </p:cNvPr>
          <p:cNvSpPr txBox="1"/>
          <p:nvPr/>
        </p:nvSpPr>
        <p:spPr>
          <a:xfrm>
            <a:off x="318655" y="5843539"/>
            <a:ext cx="115546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- </a:t>
            </a:r>
            <a:r>
              <a:rPr lang="ru-RU" sz="2400" dirty="0"/>
              <a:t>популярность товаров определялась по объему продаж, поэтому лидируют самые дорогие товары из подкатегории офисная техника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7D11098-22F8-0CB8-34D0-64384F406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643" y="23135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Топ-10 самых популярных товаров по объему продаж: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34FA0868-0005-B08A-649A-D896306FD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25402"/>
              </p:ext>
            </p:extLst>
          </p:nvPr>
        </p:nvGraphicFramePr>
        <p:xfrm>
          <a:off x="711201" y="647988"/>
          <a:ext cx="9906000" cy="52958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5925">
                  <a:extLst>
                    <a:ext uri="{9D8B030D-6E8A-4147-A177-3AD203B41FA5}">
                      <a16:colId xmlns:a16="http://schemas.microsoft.com/office/drawing/2014/main" val="333983"/>
                    </a:ext>
                  </a:extLst>
                </a:gridCol>
                <a:gridCol w="5157669">
                  <a:extLst>
                    <a:ext uri="{9D8B030D-6E8A-4147-A177-3AD203B41FA5}">
                      <a16:colId xmlns:a16="http://schemas.microsoft.com/office/drawing/2014/main" val="1642214060"/>
                    </a:ext>
                  </a:extLst>
                </a:gridCol>
                <a:gridCol w="2472406">
                  <a:extLst>
                    <a:ext uri="{9D8B030D-6E8A-4147-A177-3AD203B41FA5}">
                      <a16:colId xmlns:a16="http://schemas.microsoft.com/office/drawing/2014/main" val="240309400"/>
                    </a:ext>
                  </a:extLst>
                </a:gridCol>
              </a:tblGrid>
              <a:tr h="2567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endParaRPr lang="ru-RU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productName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sales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701464353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339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Canon imageCLASS 2200 Advanced Copier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35699.898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1735293865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864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Martin Yale Chadless Opener Electric Letter Op...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11825.902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850997193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570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GBC DocuBind TL300 Electric Binding System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10943.278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945520452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effectLst/>
                        </a:rPr>
                        <a:t>671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Hewlett Packard LaserJet 3310 Copier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9239.846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2554576755"/>
                  </a:ext>
                </a:extLst>
              </a:tr>
              <a:tr h="2567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1140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Samsung Galaxy Mega 6.3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9239.780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2070051801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398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Cubify CubeX 3D Printer Triple Head Print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7999.980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2570741570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539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Fellowes PB500 Electric Punch Plastic Comb Bin...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7371.742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2848063429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655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HON 5400 Series Task Chairs for Big and Tall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7220.094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558807688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567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GBC </a:t>
                      </a:r>
                      <a:r>
                        <a:rPr lang="en-US" sz="1800" kern="100" dirty="0" err="1">
                          <a:effectLst/>
                        </a:rPr>
                        <a:t>DocuBind</a:t>
                      </a:r>
                      <a:r>
                        <a:rPr lang="en-US" sz="1800" kern="100" dirty="0">
                          <a:effectLst/>
                        </a:rPr>
                        <a:t> P400 Electric Binding System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effectLst/>
                        </a:rPr>
                        <a:t>7077.148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1560704893"/>
                  </a:ext>
                </a:extLst>
              </a:tr>
              <a:tr h="52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816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Lexmark MX611dhe Monochrome Laser Printer</a:t>
                      </a:r>
                      <a:endParaRPr lang="ru-RU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effectLst/>
                        </a:rPr>
                        <a:t>5609.967</a:t>
                      </a:r>
                      <a:endParaRPr lang="ru-RU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3" marR="4963" marT="4963" marB="4963" anchor="ctr"/>
                </a:tc>
                <a:extLst>
                  <a:ext uri="{0D108BD9-81ED-4DB2-BD59-A6C34878D82A}">
                    <a16:rowId xmlns:a16="http://schemas.microsoft.com/office/drawing/2014/main" val="1862570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8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2E5131-241F-764F-0DDF-8E60382D5C7F}"/>
              </a:ext>
            </a:extLst>
          </p:cNvPr>
          <p:cNvSpPr txBox="1"/>
          <p:nvPr/>
        </p:nvSpPr>
        <p:spPr>
          <a:xfrm>
            <a:off x="360218" y="5288340"/>
            <a:ext cx="114715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-  анализ распределения категорий внутри штатов подтверждает лидерство штатов Калифорния, Нью Йорк, Вашингтон, причем в Калифорнии заказывают больше офисной техники, а жители штата  Нью Йорк и Вашингтон больше покупают товаров из категории "Технологии"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3D6B25-15E1-EB17-2757-136958C29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36" y="243840"/>
            <a:ext cx="11003700" cy="492667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60A12F-1D5C-D325-6E69-8293C0511F6A}"/>
              </a:ext>
            </a:extLst>
          </p:cNvPr>
          <p:cNvSpPr txBox="1"/>
          <p:nvPr/>
        </p:nvSpPr>
        <p:spPr>
          <a:xfrm>
            <a:off x="6783186" y="922713"/>
            <a:ext cx="2676698" cy="41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B99A0-F36D-5A22-B59D-5C18021790B6}"/>
              </a:ext>
            </a:extLst>
          </p:cNvPr>
          <p:cNvSpPr txBox="1"/>
          <p:nvPr/>
        </p:nvSpPr>
        <p:spPr>
          <a:xfrm>
            <a:off x="6733308" y="797221"/>
            <a:ext cx="2676698" cy="41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55087-B3D2-A047-7A5E-B2DC63BB83AA}"/>
              </a:ext>
            </a:extLst>
          </p:cNvPr>
          <p:cNvSpPr txBox="1"/>
          <p:nvPr/>
        </p:nvSpPr>
        <p:spPr>
          <a:xfrm>
            <a:off x="2732116" y="775992"/>
            <a:ext cx="754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Распределение продаж по категориям внутри штатов</a:t>
            </a:r>
          </a:p>
        </p:txBody>
      </p:sp>
    </p:spTree>
    <p:extLst>
      <p:ext uri="{BB962C8B-B14F-4D97-AF65-F5344CB8AC3E}">
        <p14:creationId xmlns:p14="http://schemas.microsoft.com/office/powerpoint/2010/main" val="803232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89C2E3-BC6B-5744-590E-249BEFB40A7C}"/>
              </a:ext>
            </a:extLst>
          </p:cNvPr>
          <p:cNvSpPr txBox="1"/>
          <p:nvPr/>
        </p:nvSpPr>
        <p:spPr>
          <a:xfrm>
            <a:off x="648393" y="5522159"/>
            <a:ext cx="11388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 - </a:t>
            </a:r>
            <a:r>
              <a:rPr lang="ru-RU" sz="2400" dirty="0"/>
              <a:t>динамика продаж разных категорий показывает устойчивый рост продаж всех категорий, кроме того, продажи категории Технология имеют максимумы в марте и ноябре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E0B7A6-0BEA-06C6-AF69-B8BEA62A6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93" y="282633"/>
            <a:ext cx="10989425" cy="49608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812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AAC15D-3020-6E5A-E8E3-BD88A6BDFE98}"/>
              </a:ext>
            </a:extLst>
          </p:cNvPr>
          <p:cNvSpPr txBox="1"/>
          <p:nvPr/>
        </p:nvSpPr>
        <p:spPr>
          <a:xfrm>
            <a:off x="870066" y="5134278"/>
            <a:ext cx="113219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ru-RU" sz="2400" dirty="0"/>
              <a:t>- </a:t>
            </a:r>
            <a:r>
              <a:rPr lang="ru-RU" sz="2400" dirty="0" err="1"/>
              <a:t>расссмотрение</a:t>
            </a:r>
            <a:r>
              <a:rPr lang="ru-RU" sz="2400" dirty="0"/>
              <a:t> динамики продаж подкатегорий в категории Технология показывает, что максимумы продажи категории Технология в марте и ноябре обусловлены продажей дорогостоящих копиров. Вклад от продаж других подкатегорий примерно одинаков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969744-FC39-68DB-AE08-67B6CEA8E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76225"/>
            <a:ext cx="10956174" cy="50106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669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591C99-9CF6-1D46-057A-894D42A61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-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713" y="947651"/>
            <a:ext cx="8985135" cy="50541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0A12CF-1260-F7F8-06D4-D79730217339}"/>
              </a:ext>
            </a:extLst>
          </p:cNvPr>
          <p:cNvSpPr txBox="1"/>
          <p:nvPr/>
        </p:nvSpPr>
        <p:spPr>
          <a:xfrm>
            <a:off x="5507182" y="5264018"/>
            <a:ext cx="6093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Исследование выполнил Александр  Глебовский</a:t>
            </a:r>
          </a:p>
          <a:p>
            <a:r>
              <a:rPr lang="ru-RU" dirty="0">
                <a:solidFill>
                  <a:schemeClr val="bg1"/>
                </a:solidFill>
              </a:rPr>
              <a:t>E-mail: vizitor1@mail.ru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79AD2-6892-783A-7103-9DE0DF37F140}"/>
              </a:ext>
            </a:extLst>
          </p:cNvPr>
          <p:cNvSpPr txBox="1"/>
          <p:nvPr/>
        </p:nvSpPr>
        <p:spPr>
          <a:xfrm>
            <a:off x="3345873" y="1319937"/>
            <a:ext cx="60932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i="0" dirty="0">
                <a:ln w="0">
                  <a:noFill/>
                </a:ln>
                <a:solidFill>
                  <a:schemeClr val="bg1"/>
                </a:solidFill>
                <a:effectLst/>
                <a:latin typeface="Geometria"/>
              </a:rPr>
              <a:t>Спасибо за внимание!</a:t>
            </a:r>
            <a:endParaRPr lang="ru-RU" sz="4400" b="1" dirty="0">
              <a:ln w="0"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5270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520</Words>
  <Application>Microsoft Office PowerPoint</Application>
  <PresentationFormat>Широкоэкранный</PresentationFormat>
  <Paragraphs>70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Geometria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san</dc:creator>
  <cp:lastModifiedBy>Sana san</cp:lastModifiedBy>
  <cp:revision>3</cp:revision>
  <dcterms:created xsi:type="dcterms:W3CDTF">2026-01-28T17:07:18Z</dcterms:created>
  <dcterms:modified xsi:type="dcterms:W3CDTF">2026-02-02T12:50:57Z</dcterms:modified>
</cp:coreProperties>
</file>