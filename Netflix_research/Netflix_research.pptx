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85865" autoAdjust="0"/>
  </p:normalViewPr>
  <p:slideViewPr>
    <p:cSldViewPr snapToGrid="0">
      <p:cViewPr varScale="1">
        <p:scale>
          <a:sx n="54" d="100"/>
          <a:sy n="54" d="100"/>
        </p:scale>
        <p:origin x="2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7F3072-0B3E-46C1-BF7D-16C26464E730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0C693-5D6C-4DEC-9C23-5D3D26D4D3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53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0C693-5D6C-4DEC-9C23-5D3D26D4D3E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063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0C693-5D6C-4DEC-9C23-5D3D26D4D3E4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510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0C693-5D6C-4DEC-9C23-5D3D26D4D3E4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896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09083-1C51-3787-B912-F738E4D06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CFDAF2-2464-DC0C-A693-69511829B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0F3FD6-93DC-527A-5B4E-110354B65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57E7-11D0-4F2A-8163-B846BF2D4B9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246F97-01BF-93EC-4CA2-DCA8524B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83D435-790E-C0A7-2C5A-7934DC98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9B61-4094-44E1-8B68-6C2B1169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564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7230B-CA72-02F6-A7C5-FABB300D6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4BC68E-B968-03F2-8CFE-E834D07E9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261AD7-257C-8C3F-C4FF-D1FDBBE3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57E7-11D0-4F2A-8163-B846BF2D4B9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9E3860-660F-8D0F-069B-FE5BE975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1FFDFE-1C9E-EA91-B959-4CF98F2EF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9B61-4094-44E1-8B68-6C2B1169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786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63C6C-5629-3606-B9CF-9FDB90571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3B41BC-70B9-DF22-126C-A3A9FC138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5C183C-E39B-4DFF-17B9-6713C29B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57E7-11D0-4F2A-8163-B846BF2D4B9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8BA5E1-1933-E7A9-B4A4-CB479A696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812CE6-F594-2384-B6FA-540E9E30B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9B61-4094-44E1-8B68-6C2B1169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74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823EF-ABAC-7136-13DC-7DBA42E07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86C218-2C72-FF88-A123-1322F2A4A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300762-0337-E96A-FBFA-F0A637A88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054502-5534-8F02-FD5A-FE96C2CE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57E7-11D0-4F2A-8163-B846BF2D4B9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B54AE7F-3A5D-CB05-2D87-CEDC817FA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88C319-A5CD-5649-4FD1-C6F25327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9B61-4094-44E1-8B68-6C2B1169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151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AA29A1-94F4-89D7-8176-B0DB0AA4C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6DE067-4C77-D4F8-5483-3FEBA0106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23DE8E-CD5E-BD1F-C4B8-44059595B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A6A7224-8F87-66B8-E4E3-73CB68CB7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44D3D68-6DC1-11C6-E226-D133386BA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7D36C4E-61BD-D11B-7726-46DBFBC1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57E7-11D0-4F2A-8163-B846BF2D4B9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8C8DB16-A558-4BE4-270E-B78AE0E2F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3DCDC0-3D95-E884-49C6-3D47141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9B61-4094-44E1-8B68-6C2B1169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63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EE6A9-0523-D884-2449-CAEC1F38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A9D110B-D4EE-0E92-5087-1065BC9B5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57E7-11D0-4F2A-8163-B846BF2D4B9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50649CB-3422-A51A-9A8B-109FBE1C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EFD5D2-9C66-98F1-ABCA-A0582A4D2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9B61-4094-44E1-8B68-6C2B1169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65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D983124-B037-070A-DBB5-5C198F2C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57E7-11D0-4F2A-8163-B846BF2D4B9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A19335-22F1-DDA0-A1C1-C0CFB59C1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445309-D3E3-AF37-17B5-D08C18E3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9B61-4094-44E1-8B68-6C2B1169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6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FE04E-08D9-682C-9681-2A70760E1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5763F-69E3-2895-150C-6D154E9B7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8578FD-7641-CFC0-8AF1-CB6B8FA01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6091A7-D219-D6D4-7145-298F3966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57E7-11D0-4F2A-8163-B846BF2D4B9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273BE2-E7A1-E66A-766B-5E445975F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187993-8862-8A39-D789-515C4A9E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9B61-4094-44E1-8B68-6C2B1169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39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0F310-0195-370D-1AAA-6FEB9DB3B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A452616-59E7-1204-F30E-F9C2F245B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C990E8-1F6D-079B-F983-57F1950B6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489910-AF42-9461-23B9-A939EF93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57E7-11D0-4F2A-8163-B846BF2D4B9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66AAC8-972B-08F6-B026-AC17634E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12D75E-505E-F37A-290E-A5E86568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9B61-4094-44E1-8B68-6C2B1169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862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BDA120-B77E-CD84-BC25-3C4C6A01C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A09F28-27C2-9191-F5C6-955A31986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83E95B-A3BC-0392-855E-3696CFE7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57E7-11D0-4F2A-8163-B846BF2D4B9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B2FFB8-8BBC-B809-DAE3-84C91D5AB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9575E0-2FE2-DA2B-82B4-13684BFD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9B61-4094-44E1-8B68-6C2B1169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812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FD58D5-B142-37CF-3BCD-2423F63D6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30B8B0-EAD2-7935-380C-A4E2CEB39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23E6E8-75F3-9F0B-CCC9-F96E92BA6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57E7-11D0-4F2A-8163-B846BF2D4B9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3B08FC-61E9-2055-A5B7-7A51CEC3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74B320-955D-1C1E-B342-4C4B385C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9B61-4094-44E1-8B68-6C2B1169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403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548C6F-653E-32A5-64B2-28CD17446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327626-6EEE-0437-1D29-A53A84F93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05898E-C8EE-3837-E9E1-0C22A42A5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F57E7-11D0-4F2A-8163-B846BF2D4B96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03853C-78F0-E3DE-63FA-3DC5FD466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FD366A-8A06-0A96-62CC-D0F074180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99B61-4094-44E1-8B68-6C2B116975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76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E26C1F-A298-8A0D-7C3A-BC1780790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-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8" y="89205"/>
            <a:ext cx="12192000" cy="68914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5C6BBC-D15E-1540-71CE-93DF2E2BE944}"/>
              </a:ext>
            </a:extLst>
          </p:cNvPr>
          <p:cNvSpPr txBox="1"/>
          <p:nvPr/>
        </p:nvSpPr>
        <p:spPr>
          <a:xfrm>
            <a:off x="1600200" y="881743"/>
            <a:ext cx="89569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solidFill>
                  <a:srgbClr val="FFFF00"/>
                </a:solidFill>
              </a:rPr>
              <a:t>Исследование клиентов сервиса </a:t>
            </a:r>
            <a:r>
              <a:rPr lang="ru-RU" sz="4800" dirty="0" err="1">
                <a:solidFill>
                  <a:srgbClr val="FFFF00"/>
                </a:solidFill>
              </a:rPr>
              <a:t>Netflix</a:t>
            </a:r>
            <a:endParaRPr lang="ru-RU" sz="4800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9E74F-C051-E442-4B31-BDDA8BFE5142}"/>
              </a:ext>
            </a:extLst>
          </p:cNvPr>
          <p:cNvSpPr txBox="1"/>
          <p:nvPr/>
        </p:nvSpPr>
        <p:spPr>
          <a:xfrm>
            <a:off x="5982394" y="6122464"/>
            <a:ext cx="6093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n>
                  <a:solidFill>
                    <a:schemeClr val="bg1"/>
                  </a:solidFill>
                </a:ln>
                <a:solidFill>
                  <a:srgbClr val="FFFF66"/>
                </a:solidFill>
              </a:rPr>
              <a:t>Исследование выполнил Александр  Глебовский</a:t>
            </a:r>
          </a:p>
          <a:p>
            <a:pPr algn="ctr"/>
            <a:r>
              <a:rPr lang="ru-RU" sz="1800" dirty="0">
                <a:ln>
                  <a:solidFill>
                    <a:schemeClr val="bg1"/>
                  </a:solidFill>
                </a:ln>
                <a:solidFill>
                  <a:srgbClr val="FFFF66"/>
                </a:solidFill>
              </a:rPr>
              <a:t>в рамках курса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282200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BAC1C2-4366-4396-0D12-8DF7C213A49C}"/>
              </a:ext>
            </a:extLst>
          </p:cNvPr>
          <p:cNvSpPr txBox="1"/>
          <p:nvPr/>
        </p:nvSpPr>
        <p:spPr>
          <a:xfrm>
            <a:off x="170873" y="517760"/>
            <a:ext cx="116162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dirty="0"/>
              <a:t>Исследование клиентов сервиса </a:t>
            </a:r>
            <a:r>
              <a:rPr lang="ru-RU" sz="4800" dirty="0" err="1"/>
              <a:t>Netflix</a:t>
            </a:r>
            <a:endParaRPr lang="ru-RU" sz="4800" dirty="0"/>
          </a:p>
          <a:p>
            <a:pPr algn="ctr"/>
            <a:endParaRPr lang="ru-RU" dirty="0"/>
          </a:p>
          <a:p>
            <a:pPr algn="ctr"/>
            <a:endParaRPr lang="ru-RU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AE24C-D1E4-E22A-48CA-2403C30DF24D}"/>
              </a:ext>
            </a:extLst>
          </p:cNvPr>
          <p:cNvSpPr txBox="1"/>
          <p:nvPr/>
        </p:nvSpPr>
        <p:spPr>
          <a:xfrm>
            <a:off x="1745365" y="4607114"/>
            <a:ext cx="8994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Будут рассмотрены данные клиентов </a:t>
            </a:r>
            <a:r>
              <a:rPr lang="ru-RU" sz="2400" dirty="0" err="1"/>
              <a:t>Netflix</a:t>
            </a:r>
            <a:r>
              <a:rPr lang="ru-RU" sz="2400" dirty="0"/>
              <a:t>. </a:t>
            </a:r>
          </a:p>
          <a:p>
            <a:pPr algn="ctr"/>
            <a:r>
              <a:rPr lang="ru-RU" sz="2400" dirty="0"/>
              <a:t>Данные взяты с сайта </a:t>
            </a:r>
            <a:r>
              <a:rPr lang="ru-RU" sz="2400" dirty="0" err="1"/>
              <a:t>kaggle</a:t>
            </a:r>
            <a:r>
              <a:rPr lang="ru-RU" sz="2400" dirty="0"/>
              <a:t>  </a:t>
            </a:r>
            <a:r>
              <a:rPr lang="en-US" sz="2400" dirty="0"/>
              <a:t>(https://www.kaggle.com/</a:t>
            </a:r>
            <a:r>
              <a:rPr lang="ru-RU" sz="2400" dirty="0"/>
              <a:t>) </a:t>
            </a:r>
          </a:p>
          <a:p>
            <a:pPr algn="ctr"/>
            <a:r>
              <a:rPr lang="ru-RU" sz="24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27BFC-9AC3-175F-87F7-E942996484E1}"/>
              </a:ext>
            </a:extLst>
          </p:cNvPr>
          <p:cNvSpPr txBox="1"/>
          <p:nvPr/>
        </p:nvSpPr>
        <p:spPr>
          <a:xfrm>
            <a:off x="880841" y="2470104"/>
            <a:ext cx="10723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err="1"/>
              <a:t>Netflix</a:t>
            </a:r>
            <a:r>
              <a:rPr lang="ru-RU" sz="2400" dirty="0"/>
              <a:t> — американский сервис потокового видео по подписке открытый стриминговый сервис. Сервис в основном занимается дистрибуцией оригинальных и приобретенных фильмов и телешоу различных жанров и доступен на международном уровне на нескольких языках.[6]</a:t>
            </a:r>
          </a:p>
        </p:txBody>
      </p:sp>
    </p:spTree>
    <p:extLst>
      <p:ext uri="{BB962C8B-B14F-4D97-AF65-F5344CB8AC3E}">
        <p14:creationId xmlns:p14="http://schemas.microsoft.com/office/powerpoint/2010/main" val="66641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7BE7A-8192-88DC-C355-BE899829174D}"/>
              </a:ext>
            </a:extLst>
          </p:cNvPr>
          <p:cNvSpPr txBox="1"/>
          <p:nvPr/>
        </p:nvSpPr>
        <p:spPr>
          <a:xfrm>
            <a:off x="3906981" y="484813"/>
            <a:ext cx="5303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Основные результаты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3261F-2E09-D9B0-99F3-EEDF7F61E781}"/>
              </a:ext>
            </a:extLst>
          </p:cNvPr>
          <p:cNvSpPr txBox="1"/>
          <p:nvPr/>
        </p:nvSpPr>
        <p:spPr>
          <a:xfrm>
            <a:off x="1000299" y="1536483"/>
            <a:ext cx="101914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1. Количество уникальных клиентов: 2500</a:t>
            </a:r>
          </a:p>
          <a:p>
            <a:pPr algn="ctr"/>
            <a:r>
              <a:rPr lang="ru-RU" sz="2400" dirty="0"/>
              <a:t>2. Возраст  Основные статистики по возрасту:</a:t>
            </a:r>
          </a:p>
          <a:p>
            <a:pPr algn="ctr"/>
            <a:r>
              <a:rPr lang="ru-RU" sz="2400" dirty="0"/>
              <a:t>Средний возраст: 38.8</a:t>
            </a:r>
          </a:p>
          <a:p>
            <a:pPr algn="ctr"/>
            <a:r>
              <a:rPr lang="ru-RU" sz="2400" dirty="0"/>
              <a:t>Медиана возраста: 39.0</a:t>
            </a:r>
          </a:p>
          <a:p>
            <a:pPr algn="ctr"/>
            <a:r>
              <a:rPr lang="ru-RU" sz="2400" dirty="0"/>
              <a:t>Стандартное отклонение: 7.2</a:t>
            </a:r>
          </a:p>
          <a:p>
            <a:pPr algn="ctr"/>
            <a:r>
              <a:rPr lang="ru-RU" sz="2400" dirty="0"/>
              <a:t>Минимальный возраст: 26.0</a:t>
            </a:r>
          </a:p>
          <a:p>
            <a:pPr algn="ctr"/>
            <a:r>
              <a:rPr lang="ru-RU" sz="2400" dirty="0"/>
              <a:t>Максимальный возраст: 51.0</a:t>
            </a:r>
          </a:p>
          <a:p>
            <a:pPr algn="ctr"/>
            <a:r>
              <a:rPr lang="ru-RU" sz="2400" dirty="0"/>
              <a:t>25-й перцентиль: 32.0</a:t>
            </a:r>
          </a:p>
          <a:p>
            <a:pPr algn="ctr"/>
            <a:r>
              <a:rPr lang="ru-RU" sz="2400" dirty="0"/>
              <a:t>75-й перцентиль: 45.0</a:t>
            </a:r>
          </a:p>
        </p:txBody>
      </p:sp>
    </p:spTree>
    <p:extLst>
      <p:ext uri="{BB962C8B-B14F-4D97-AF65-F5344CB8AC3E}">
        <p14:creationId xmlns:p14="http://schemas.microsoft.com/office/powerpoint/2010/main" val="3291609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2E338A-2BB7-2A12-F674-F83519AAE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" y="276225"/>
            <a:ext cx="10868025" cy="5875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8351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8F5FD3-8902-B71B-2108-28E68F1A6C37}"/>
              </a:ext>
            </a:extLst>
          </p:cNvPr>
          <p:cNvSpPr txBox="1"/>
          <p:nvPr/>
        </p:nvSpPr>
        <p:spPr>
          <a:xfrm>
            <a:off x="683882" y="1288136"/>
            <a:ext cx="6434051" cy="453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Количество пользователей</a:t>
            </a:r>
            <a:endParaRPr lang="ru-RU" sz="2400" kern="0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по полу: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Женский    1257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Мужской    1243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Доли по полу (в %):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Женский</a:t>
            </a:r>
            <a:r>
              <a:rPr lang="en-US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50.3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Мужской</a:t>
            </a:r>
            <a:r>
              <a:rPr lang="en-US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49.7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9AB39B-6481-61CE-76D0-BD06A57A3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339" y="756138"/>
            <a:ext cx="6434051" cy="61018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960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A6EF168-2FCE-277C-CC7C-1B071C928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56" y="0"/>
            <a:ext cx="10868025" cy="478814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7BD8CD-77D6-7A8C-319C-BBB28D86EAA5}"/>
              </a:ext>
            </a:extLst>
          </p:cNvPr>
          <p:cNvSpPr txBox="1"/>
          <p:nvPr/>
        </p:nvSpPr>
        <p:spPr>
          <a:xfrm>
            <a:off x="1090247" y="4788144"/>
            <a:ext cx="10246334" cy="155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Количество пользователей по типам устройств:</a:t>
            </a: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Laptop        636</a:t>
            </a: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Tablet        633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Smartphone    621</a:t>
            </a: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 TV      610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259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3598EE-20CF-96B5-AB04-676A09224345}"/>
              </a:ext>
            </a:extLst>
          </p:cNvPr>
          <p:cNvSpPr txBox="1"/>
          <p:nvPr/>
        </p:nvSpPr>
        <p:spPr>
          <a:xfrm>
            <a:off x="162658" y="311932"/>
            <a:ext cx="4550019" cy="250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Распределение типов подписок: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Basic       999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    768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Premium     733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9A140C-D95B-CB73-7D9E-4C753BE03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90" y="151376"/>
            <a:ext cx="7504272" cy="59860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3860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E5BBA5-DD60-52D4-EDBD-54A066C5894C}"/>
              </a:ext>
            </a:extLst>
          </p:cNvPr>
          <p:cNvSpPr txBox="1"/>
          <p:nvPr/>
        </p:nvSpPr>
        <p:spPr>
          <a:xfrm>
            <a:off x="3046535" y="1123048"/>
            <a:ext cx="6093068" cy="4611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United States     451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Spain             451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Canada            317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United Kingdom    183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Germany           183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Australia         183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France            183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Brazil            183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Mexico            183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Italy             183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count, </a:t>
            </a: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int64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325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35F6DF-CB9A-CECC-3973-9760367E6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" y="276225"/>
            <a:ext cx="10868025" cy="6305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3812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5BC565A-7F14-0771-CB40-F8BDEC7D2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4" y="276225"/>
            <a:ext cx="10251829" cy="51925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E2E8D4-6E90-DD3E-6602-B2EF8F8F78D0}"/>
              </a:ext>
            </a:extLst>
          </p:cNvPr>
          <p:cNvSpPr txBox="1"/>
          <p:nvPr/>
        </p:nvSpPr>
        <p:spPr>
          <a:xfrm>
            <a:off x="1573608" y="5732585"/>
            <a:ext cx="904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Новые пользователи были привлечены с мая по декабрь 2022 года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544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FED8E3-12A3-E35B-6285-9053C925B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62" y="276225"/>
            <a:ext cx="11254153" cy="526292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271AAC-B4B7-2C05-1652-6B075595A6BC}"/>
              </a:ext>
            </a:extLst>
          </p:cNvPr>
          <p:cNvSpPr txBox="1"/>
          <p:nvPr/>
        </p:nvSpPr>
        <p:spPr>
          <a:xfrm>
            <a:off x="2004646" y="5539154"/>
            <a:ext cx="86178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Ежемесячная выручка сильно растет с мая по декабрь 2022года </a:t>
            </a:r>
          </a:p>
          <a:p>
            <a:pPr algn="ctr"/>
            <a:r>
              <a:rPr lang="ru-RU" sz="2400" dirty="0"/>
              <a:t>и далее, до июня 2023, практически не меняется</a:t>
            </a:r>
          </a:p>
        </p:txBody>
      </p:sp>
    </p:spTree>
    <p:extLst>
      <p:ext uri="{BB962C8B-B14F-4D97-AF65-F5344CB8AC3E}">
        <p14:creationId xmlns:p14="http://schemas.microsoft.com/office/powerpoint/2010/main" val="3153501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0A3FD70-124A-6FD2-AD2B-4F3CD24A0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6225"/>
            <a:ext cx="10515601" cy="5227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9BB4F0-3179-FFF1-3465-F18D54F80BC3}"/>
              </a:ext>
            </a:extLst>
          </p:cNvPr>
          <p:cNvSpPr txBox="1"/>
          <p:nvPr/>
        </p:nvSpPr>
        <p:spPr>
          <a:xfrm>
            <a:off x="2034830" y="5222631"/>
            <a:ext cx="796993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  <a:p>
            <a:r>
              <a:rPr lang="ru-RU" sz="2400" dirty="0" err="1"/>
              <a:t>Пооведение</a:t>
            </a:r>
            <a:r>
              <a:rPr lang="ru-RU" sz="2400" dirty="0"/>
              <a:t> накопленной выручки практически совпадает </a:t>
            </a:r>
          </a:p>
          <a:p>
            <a:r>
              <a:rPr lang="ru-RU" sz="2400" dirty="0"/>
              <a:t>с поведением месячной выручки (см. предыдущий слайд)</a:t>
            </a:r>
          </a:p>
        </p:txBody>
      </p:sp>
    </p:spTree>
    <p:extLst>
      <p:ext uri="{BB962C8B-B14F-4D97-AF65-F5344CB8AC3E}">
        <p14:creationId xmlns:p14="http://schemas.microsoft.com/office/powerpoint/2010/main" val="733673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BB35351-1DE0-4ECA-27C1-67BE9301CA30}"/>
              </a:ext>
            </a:extLst>
          </p:cNvPr>
          <p:cNvSpPr txBox="1"/>
          <p:nvPr/>
        </p:nvSpPr>
        <p:spPr>
          <a:xfrm>
            <a:off x="3046535" y="650034"/>
            <a:ext cx="6093068" cy="5557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 платёжеспособности по возрастным группам: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Количество пользователей  Средняя месячная выручка (руб.)  \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age_group</a:t>
            </a: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&lt;18                               0                              </a:t>
            </a:r>
            <a:r>
              <a:rPr lang="ru-RU" sz="10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18–24                             0                              </a:t>
            </a:r>
            <a:r>
              <a:rPr lang="ru-RU" sz="10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25–34                           811                            12.54 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35–44                          1015                            12.52 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45–54                           674                            12.46 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55–64                             0                              </a:t>
            </a:r>
            <a:r>
              <a:rPr lang="ru-RU" sz="10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65+                               0                              </a:t>
            </a:r>
            <a:r>
              <a:rPr lang="ru-RU" sz="10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Общая накопленная выручка (руб.)  Доля в выручке (%)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age_group</a:t>
            </a: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&lt;18                                       0                 0.0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18–24                                     0                 0.0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25–34                                103765                32.5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35–44                                129348                40.5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45–54                                 86384                27.0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55–64                                     0                 0.0  </a:t>
            </a:r>
            <a:endParaRPr lang="ru-R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65+                                       0                 0.0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186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92C6715-C863-B0F8-1BE0-F4DC9CECC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276225"/>
            <a:ext cx="10877550" cy="54739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6947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FB034E2-6792-82FA-68D3-3C0F1D94F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-1"/>
            <a:ext cx="9048750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8250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8D9814-515C-1F93-77D9-131EE0704BA3}"/>
              </a:ext>
            </a:extLst>
          </p:cNvPr>
          <p:cNvSpPr txBox="1"/>
          <p:nvPr/>
        </p:nvSpPr>
        <p:spPr>
          <a:xfrm>
            <a:off x="2043953" y="1014166"/>
            <a:ext cx="9108141" cy="3245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Распределение типов подписок по возрастным группам (количество пользователей):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subscriptionType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basic  premium  standard  </a:t>
            </a:r>
            <a:r>
              <a:rPr lang="ru-RU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Всего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age_group</a:t>
            </a:r>
            <a:r>
              <a:rPr lang="en-US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25–34               320      253       238    811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35–44               402      286       327   1015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45–54               277      194       203    674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Всего               999      733       768   2500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13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96DAC3-77E6-5FA0-9D3A-4017DFC148F8}"/>
              </a:ext>
            </a:extLst>
          </p:cNvPr>
          <p:cNvSpPr txBox="1"/>
          <p:nvPr/>
        </p:nvSpPr>
        <p:spPr>
          <a:xfrm>
            <a:off x="735106" y="986966"/>
            <a:ext cx="10721787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### Рекомендации по улучшению сервиса</a:t>
            </a:r>
          </a:p>
          <a:p>
            <a:endParaRPr lang="ru-RU" b="1" dirty="0"/>
          </a:p>
          <a:p>
            <a:r>
              <a:rPr lang="ru-RU" sz="2400" b="1" dirty="0"/>
              <a:t>### 1. Работа с аудиторией</a:t>
            </a:r>
          </a:p>
          <a:p>
            <a:r>
              <a:rPr lang="ru-RU" sz="2400" dirty="0"/>
              <a:t>* **Реактивация пользователей**:</a:t>
            </a:r>
          </a:p>
          <a:p>
            <a:r>
              <a:rPr lang="ru-RU" sz="2400" dirty="0"/>
              <a:t>  * Внедрить систему уведомлений для неактивных пользователей</a:t>
            </a:r>
          </a:p>
          <a:p>
            <a:r>
              <a:rPr lang="ru-RU" sz="2400" dirty="0"/>
              <a:t>  * Разработать персонализированные предложения для возвращения клиентов</a:t>
            </a:r>
          </a:p>
          <a:p>
            <a:r>
              <a:rPr lang="ru-RU" sz="2400" dirty="0"/>
              <a:t>  * Создать программу лояльности с бонусами за непрерывное использование</a:t>
            </a:r>
          </a:p>
          <a:p>
            <a:endParaRPr lang="ru-RU" sz="2400" dirty="0"/>
          </a:p>
          <a:p>
            <a:r>
              <a:rPr lang="ru-RU" sz="2400" dirty="0"/>
              <a:t>* **Возрастные сегменты**:</a:t>
            </a:r>
          </a:p>
          <a:p>
            <a:r>
              <a:rPr lang="ru-RU" sz="2400" dirty="0"/>
              <a:t>  * Разработать специальные предложения для возрастной группы 25-34 (12.54 руб. средняя выручка)</a:t>
            </a:r>
          </a:p>
          <a:p>
            <a:r>
              <a:rPr lang="ru-RU" sz="2400" dirty="0"/>
              <a:t>  * Усилить контент для группы 35-44 (самая платежеспособная, 40.5% выручки)</a:t>
            </a:r>
          </a:p>
          <a:p>
            <a:r>
              <a:rPr lang="ru-RU" sz="2400" dirty="0"/>
              <a:t>  * Провести анализ причин низкой активности группы 45-54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670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A379EB-8C09-12C3-EDBB-19CDAA111C95}"/>
              </a:ext>
            </a:extLst>
          </p:cNvPr>
          <p:cNvSpPr txBox="1"/>
          <p:nvPr/>
        </p:nvSpPr>
        <p:spPr>
          <a:xfrm>
            <a:off x="1093694" y="833787"/>
            <a:ext cx="1030941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### 2. Оптимизация подписок</a:t>
            </a:r>
          </a:p>
          <a:p>
            <a:r>
              <a:rPr lang="ru-RU" sz="2400" dirty="0"/>
              <a:t>* **Ценовая политика**:</a:t>
            </a:r>
          </a:p>
          <a:p>
            <a:r>
              <a:rPr lang="ru-RU" sz="2400" dirty="0"/>
              <a:t>  * Проанализировать распределение подписок по типам</a:t>
            </a:r>
          </a:p>
          <a:p>
            <a:r>
              <a:rPr lang="ru-RU" sz="2400" dirty="0"/>
              <a:t>  * Разработать новые тарифные планы с учетом предпочтений разных возрастных групп</a:t>
            </a:r>
          </a:p>
          <a:p>
            <a:r>
              <a:rPr lang="ru-RU" sz="2400" dirty="0"/>
              <a:t>  * Внедрить гибкие условия перехода между типами подписок</a:t>
            </a:r>
          </a:p>
          <a:p>
            <a:endParaRPr lang="ru-RU" sz="2400" dirty="0"/>
          </a:p>
          <a:p>
            <a:r>
              <a:rPr lang="ru-RU" sz="2400" dirty="0"/>
              <a:t>* **Географический аспект**:</a:t>
            </a:r>
          </a:p>
          <a:p>
            <a:r>
              <a:rPr lang="ru-RU" sz="2400" dirty="0"/>
              <a:t>  * Скорректировать соотношение типов подписок в странах с дисбалансом (например, Мексика и Италия)</a:t>
            </a:r>
          </a:p>
          <a:p>
            <a:r>
              <a:rPr lang="ru-RU" sz="2400" dirty="0"/>
              <a:t>  * Адаптировать предложения под локальные предпочтения</a:t>
            </a:r>
          </a:p>
        </p:txBody>
      </p:sp>
    </p:spTree>
    <p:extLst>
      <p:ext uri="{BB962C8B-B14F-4D97-AF65-F5344CB8AC3E}">
        <p14:creationId xmlns:p14="http://schemas.microsoft.com/office/powerpoint/2010/main" val="228836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EA520A-CEEA-40F7-9A89-EA19C5D57A09}"/>
              </a:ext>
            </a:extLst>
          </p:cNvPr>
          <p:cNvSpPr txBox="1"/>
          <p:nvPr/>
        </p:nvSpPr>
        <p:spPr>
          <a:xfrm>
            <a:off x="1093694" y="220647"/>
            <a:ext cx="102914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### 3. Техническая оптимизация</a:t>
            </a:r>
          </a:p>
          <a:p>
            <a:r>
              <a:rPr lang="ru-RU" sz="2400" dirty="0"/>
              <a:t>* **Кроссплатформенность**:</a:t>
            </a:r>
          </a:p>
          <a:p>
            <a:r>
              <a:rPr lang="ru-RU" sz="2400" dirty="0"/>
              <a:t>  * Улучшить пользовательский опыт на всех устройствах</a:t>
            </a:r>
          </a:p>
          <a:p>
            <a:r>
              <a:rPr lang="ru-RU" sz="2400" dirty="0"/>
              <a:t>  * Оптимизировать интерфейс под разные типы девайсов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* **Аналитика использования**:</a:t>
            </a:r>
          </a:p>
          <a:p>
            <a:r>
              <a:rPr lang="ru-RU" sz="2400" dirty="0"/>
              <a:t>  * Внедрить систему отслеживания активности пользователей</a:t>
            </a:r>
          </a:p>
          <a:p>
            <a:r>
              <a:rPr lang="ru-RU" sz="2400" dirty="0"/>
              <a:t>  * Разработать метрики для оценки эффективности контента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8CE086-CF87-28A2-223B-CE97551084E6}"/>
              </a:ext>
            </a:extLst>
          </p:cNvPr>
          <p:cNvSpPr txBox="1"/>
          <p:nvPr/>
        </p:nvSpPr>
        <p:spPr>
          <a:xfrm>
            <a:off x="1093694" y="3441680"/>
            <a:ext cx="1029148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### 4. Маркетинговые инициативы</a:t>
            </a:r>
          </a:p>
          <a:p>
            <a:r>
              <a:rPr lang="ru-RU" sz="2400" dirty="0"/>
              <a:t>* **Географическое развитие**:</a:t>
            </a:r>
          </a:p>
          <a:p>
            <a:r>
              <a:rPr lang="ru-RU" sz="2400" dirty="0"/>
              <a:t>  * Усилить присутствие в странах с высоким потенциалом (Испания, США)</a:t>
            </a:r>
          </a:p>
          <a:p>
            <a:r>
              <a:rPr lang="ru-RU" sz="2400" dirty="0"/>
              <a:t>  * :Разработать стратегию входа в новые рынки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* **Привлечение новых пользователей**</a:t>
            </a:r>
          </a:p>
          <a:p>
            <a:r>
              <a:rPr lang="ru-RU" sz="2400" dirty="0"/>
              <a:t>  * Оптимизировать процесс регистрации</a:t>
            </a:r>
          </a:p>
          <a:p>
            <a:r>
              <a:rPr lang="ru-RU" sz="2400" dirty="0"/>
              <a:t>  * Создать привлекательные акционные предложения</a:t>
            </a:r>
          </a:p>
          <a:p>
            <a:r>
              <a:rPr lang="ru-RU" sz="2400" dirty="0"/>
              <a:t>  * Разработать реферальную программу</a:t>
            </a:r>
          </a:p>
        </p:txBody>
      </p:sp>
    </p:spTree>
    <p:extLst>
      <p:ext uri="{BB962C8B-B14F-4D97-AF65-F5344CB8AC3E}">
        <p14:creationId xmlns:p14="http://schemas.microsoft.com/office/powerpoint/2010/main" val="3523960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BDCB96-6E73-DBF5-4775-552C13025560}"/>
              </a:ext>
            </a:extLst>
          </p:cNvPr>
          <p:cNvSpPr txBox="1"/>
          <p:nvPr/>
        </p:nvSpPr>
        <p:spPr>
          <a:xfrm>
            <a:off x="708211" y="191451"/>
            <a:ext cx="111072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### 5. Финансовые улучшения</a:t>
            </a:r>
          </a:p>
          <a:p>
            <a:r>
              <a:rPr lang="ru-RU" sz="2400" dirty="0"/>
              <a:t>* **Оптимизация выручки**:</a:t>
            </a:r>
          </a:p>
          <a:p>
            <a:r>
              <a:rPr lang="ru-RU" sz="2400" dirty="0"/>
              <a:t>  * Внедрить динамическое ценообразование</a:t>
            </a:r>
          </a:p>
          <a:p>
            <a:r>
              <a:rPr lang="ru-RU" sz="2400" dirty="0"/>
              <a:t>  * Разработать дополнительные источники дохода</a:t>
            </a:r>
          </a:p>
          <a:p>
            <a:r>
              <a:rPr lang="ru-RU" sz="2400" dirty="0"/>
              <a:t>  * Оптимизировать структуру затрат</a:t>
            </a:r>
          </a:p>
          <a:p>
            <a:r>
              <a:rPr lang="ru-RU" sz="2400" dirty="0"/>
              <a:t>* **Мониторинг показателей**:</a:t>
            </a:r>
          </a:p>
          <a:p>
            <a:r>
              <a:rPr lang="ru-RU" sz="2400" dirty="0"/>
              <a:t>  * Создать систему раннего предупреждения о снижении активности</a:t>
            </a:r>
          </a:p>
          <a:p>
            <a:r>
              <a:rPr lang="ru-RU" sz="2400" dirty="0"/>
              <a:t>  * Внедрить регулярный анализ финансовых метрик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DED8B-4ED6-0BEE-2269-3E1004B56B34}"/>
              </a:ext>
            </a:extLst>
          </p:cNvPr>
          <p:cNvSpPr txBox="1"/>
          <p:nvPr/>
        </p:nvSpPr>
        <p:spPr>
          <a:xfrm>
            <a:off x="708211" y="3338586"/>
            <a:ext cx="107755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### 6. Продуктовые улучшения</a:t>
            </a:r>
          </a:p>
          <a:p>
            <a:r>
              <a:rPr lang="ru-RU" sz="2400" dirty="0"/>
              <a:t>* **Контентная стратегия**:</a:t>
            </a:r>
          </a:p>
          <a:p>
            <a:r>
              <a:rPr lang="ru-RU" sz="2400" dirty="0"/>
              <a:t>  * Разработать рекомендации по типам контента для разных сегментов</a:t>
            </a:r>
          </a:p>
          <a:p>
            <a:r>
              <a:rPr lang="ru-RU" sz="2400" dirty="0"/>
              <a:t>  * Внедрить систему оценки качества контента</a:t>
            </a:r>
          </a:p>
          <a:p>
            <a:r>
              <a:rPr lang="ru-RU" sz="2400" dirty="0"/>
              <a:t>  * Создать механизм быстрого реагирования на изменения предпочтений</a:t>
            </a:r>
          </a:p>
          <a:p>
            <a:r>
              <a:rPr lang="ru-RU" sz="2400" dirty="0"/>
              <a:t>* **Пользовательский опыт**:</a:t>
            </a:r>
          </a:p>
          <a:p>
            <a:r>
              <a:rPr lang="ru-RU" sz="2400" dirty="0"/>
              <a:t>  * Улучшить систему рекомендаций</a:t>
            </a:r>
          </a:p>
          <a:p>
            <a:r>
              <a:rPr lang="ru-RU" sz="2400" dirty="0"/>
              <a:t>  * Оптимизировать поиск контента</a:t>
            </a:r>
          </a:p>
          <a:p>
            <a:r>
              <a:rPr lang="ru-RU" sz="2400" dirty="0"/>
              <a:t>  * Разработать персонализированные плейлисты</a:t>
            </a:r>
          </a:p>
        </p:txBody>
      </p:sp>
    </p:spTree>
    <p:extLst>
      <p:ext uri="{BB962C8B-B14F-4D97-AF65-F5344CB8AC3E}">
        <p14:creationId xmlns:p14="http://schemas.microsoft.com/office/powerpoint/2010/main" val="1904052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B576F6-950B-E4E7-22A7-92B3DFBCECA3}"/>
              </a:ext>
            </a:extLst>
          </p:cNvPr>
          <p:cNvSpPr txBox="1"/>
          <p:nvPr/>
        </p:nvSpPr>
        <p:spPr>
          <a:xfrm>
            <a:off x="1021975" y="685417"/>
            <a:ext cx="973567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400" dirty="0"/>
          </a:p>
          <a:p>
            <a:r>
              <a:rPr lang="ru-RU" sz="2400" b="1" dirty="0"/>
              <a:t>### 7. Операционные улучшения</a:t>
            </a:r>
          </a:p>
          <a:p>
            <a:r>
              <a:rPr lang="ru-RU" sz="2400" dirty="0"/>
              <a:t>* **Аналитика поведения**:</a:t>
            </a:r>
          </a:p>
          <a:p>
            <a:r>
              <a:rPr lang="ru-RU" sz="2400" dirty="0"/>
              <a:t>  * Внедрить систему отслеживания пользовательских сценариев</a:t>
            </a:r>
          </a:p>
          <a:p>
            <a:r>
              <a:rPr lang="ru-RU" sz="2400" dirty="0"/>
              <a:t>  * Разработать механизмы прогнозирования оттока</a:t>
            </a:r>
          </a:p>
          <a:p>
            <a:r>
              <a:rPr lang="ru-RU" sz="2400" dirty="0"/>
              <a:t>  * Создать систему быстрого реагирования на проблемы</a:t>
            </a:r>
          </a:p>
          <a:p>
            <a:endParaRPr lang="ru-RU" sz="2400" dirty="0"/>
          </a:p>
          <a:p>
            <a:r>
              <a:rPr lang="ru-RU" sz="2400" dirty="0"/>
              <a:t>* **Техническая инфраструктура**:</a:t>
            </a:r>
          </a:p>
          <a:p>
            <a:r>
              <a:rPr lang="ru-RU" sz="2400" dirty="0"/>
              <a:t>  * Оптимизировать скорость загрузки контента</a:t>
            </a:r>
          </a:p>
          <a:p>
            <a:r>
              <a:rPr lang="ru-RU" sz="2400" dirty="0"/>
              <a:t>  * Улучшить качество стриминга</a:t>
            </a:r>
          </a:p>
          <a:p>
            <a:r>
              <a:rPr lang="ru-RU" sz="2400" dirty="0"/>
              <a:t>  * Обеспечить стабильную работу сервиса</a:t>
            </a:r>
          </a:p>
        </p:txBody>
      </p:sp>
    </p:spTree>
    <p:extLst>
      <p:ext uri="{BB962C8B-B14F-4D97-AF65-F5344CB8AC3E}">
        <p14:creationId xmlns:p14="http://schemas.microsoft.com/office/powerpoint/2010/main" val="3642958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FE23F8-F408-434C-F477-E882C371A1C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41" y="421859"/>
            <a:ext cx="10470777" cy="590726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BE39FF-2AF5-78C0-39EE-B6BC8D29BF07}"/>
              </a:ext>
            </a:extLst>
          </p:cNvPr>
          <p:cNvSpPr txBox="1"/>
          <p:nvPr/>
        </p:nvSpPr>
        <p:spPr>
          <a:xfrm>
            <a:off x="3550024" y="986117"/>
            <a:ext cx="53751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solidFill>
                  <a:srgbClr val="FFFF00"/>
                </a:solidFill>
              </a:rPr>
              <a:t>Спасибо за внимание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7E68B-3482-BEF0-DE80-22B86A9573A9}"/>
              </a:ext>
            </a:extLst>
          </p:cNvPr>
          <p:cNvSpPr txBox="1"/>
          <p:nvPr/>
        </p:nvSpPr>
        <p:spPr>
          <a:xfrm>
            <a:off x="4536142" y="5456384"/>
            <a:ext cx="68131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Исследование выполнил Александр  Глебовский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E-mail: vizitor1@mail.ru</a:t>
            </a:r>
            <a:endParaRPr lang="ru-RU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4732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789</Words>
  <Application>Microsoft Office PowerPoint</Application>
  <PresentationFormat>Широкоэкранный</PresentationFormat>
  <Paragraphs>149</Paragraphs>
  <Slides>22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san</dc:creator>
  <cp:lastModifiedBy>Sana san</cp:lastModifiedBy>
  <cp:revision>3</cp:revision>
  <dcterms:created xsi:type="dcterms:W3CDTF">2026-02-06T14:46:55Z</dcterms:created>
  <dcterms:modified xsi:type="dcterms:W3CDTF">2026-02-09T10:50:19Z</dcterms:modified>
</cp:coreProperties>
</file>