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9" r:id="rId15"/>
    <p:sldId id="271" r:id="rId16"/>
    <p:sldId id="275" r:id="rId17"/>
    <p:sldId id="276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68CAA-75F1-4A26-A0FD-32B769BB9B96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4D493-867F-4F00-8D41-1C69DC719B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203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4D493-867F-4F00-8D41-1C69DC719BE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197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075D-E760-4755-BFC2-63A0CC753D7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C66E-08BB-4F58-B963-286B3BC9A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372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075D-E760-4755-BFC2-63A0CC753D7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C66E-08BB-4F58-B963-286B3BC9A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535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075D-E760-4755-BFC2-63A0CC753D7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C66E-08BB-4F58-B963-286B3BC9A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535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075D-E760-4755-BFC2-63A0CC753D7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C66E-08BB-4F58-B963-286B3BC9A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202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075D-E760-4755-BFC2-63A0CC753D7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C66E-08BB-4F58-B963-286B3BC9A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982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075D-E760-4755-BFC2-63A0CC753D7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C66E-08BB-4F58-B963-286B3BC9A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089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075D-E760-4755-BFC2-63A0CC753D7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C66E-08BB-4F58-B963-286B3BC9A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241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075D-E760-4755-BFC2-63A0CC753D7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C66E-08BB-4F58-B963-286B3BC9A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391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075D-E760-4755-BFC2-63A0CC753D7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C66E-08BB-4F58-B963-286B3BC9A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0970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075D-E760-4755-BFC2-63A0CC753D7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C66E-08BB-4F58-B963-286B3BC9A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027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075D-E760-4755-BFC2-63A0CC753D7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C66E-08BB-4F58-B963-286B3BC9A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581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075D-E760-4755-BFC2-63A0CC753D7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FC66E-08BB-4F58-B963-286B3BC9A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8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6233547-F8B9-FE35-2826-AB4727E8B3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0100"/>
                    </a14:imgEffect>
                    <a14:imgEffect>
                      <a14:saturation sat="80000"/>
                    </a14:imgEffect>
                    <a14:imgEffect>
                      <a14:brightnessContrast bright="-5000" contrast="-5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640" t="11916" r="25019"/>
          <a:stretch>
            <a:fillRect/>
          </a:stretch>
        </p:blipFill>
        <p:spPr bwMode="auto">
          <a:xfrm>
            <a:off x="282630" y="-138522"/>
            <a:ext cx="11626735" cy="7135044"/>
          </a:xfrm>
          <a:prstGeom prst="rect">
            <a:avLst/>
          </a:prstGeom>
          <a:solidFill>
            <a:srgbClr val="FFFF66"/>
          </a:solidFill>
          <a:ln>
            <a:solidFill>
              <a:schemeClr val="bg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54BF28C-F918-1D04-D416-B809522BCD20}"/>
              </a:ext>
            </a:extLst>
          </p:cNvPr>
          <p:cNvSpPr txBox="1"/>
          <p:nvPr/>
        </p:nvSpPr>
        <p:spPr>
          <a:xfrm>
            <a:off x="692724" y="3429000"/>
            <a:ext cx="108065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ln>
                  <a:solidFill>
                    <a:schemeClr val="bg1"/>
                  </a:solidFill>
                </a:ln>
                <a:solidFill>
                  <a:srgbClr val="FFFF66"/>
                </a:solidFill>
              </a:rPr>
              <a:t>Исследование банковских клиентов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851FE4-EDBA-DDF7-39AD-BD501E02D5A1}"/>
              </a:ext>
            </a:extLst>
          </p:cNvPr>
          <p:cNvSpPr txBox="1"/>
          <p:nvPr/>
        </p:nvSpPr>
        <p:spPr>
          <a:xfrm>
            <a:off x="5159829" y="6150114"/>
            <a:ext cx="67495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n>
                  <a:solidFill>
                    <a:schemeClr val="bg1"/>
                  </a:solidFill>
                </a:ln>
                <a:solidFill>
                  <a:srgbClr val="FFFF66"/>
                </a:solidFill>
              </a:rPr>
              <a:t>Исследование выполнил Александр  Глебовский</a:t>
            </a:r>
          </a:p>
          <a:p>
            <a:pPr algn="ctr"/>
            <a:r>
              <a:rPr lang="ru-RU" sz="2000" dirty="0">
                <a:ln>
                  <a:solidFill>
                    <a:schemeClr val="bg1"/>
                  </a:solidFill>
                </a:ln>
                <a:solidFill>
                  <a:srgbClr val="FFFF66"/>
                </a:solidFill>
              </a:rPr>
              <a:t>в рамках курса по анализу данных</a:t>
            </a:r>
          </a:p>
        </p:txBody>
      </p:sp>
    </p:spTree>
    <p:extLst>
      <p:ext uri="{BB962C8B-B14F-4D97-AF65-F5344CB8AC3E}">
        <p14:creationId xmlns:p14="http://schemas.microsoft.com/office/powerpoint/2010/main" val="3086618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7F7F82-C36A-FEE9-4522-C1C4F835C1F1}"/>
              </a:ext>
            </a:extLst>
          </p:cNvPr>
          <p:cNvSpPr txBox="1"/>
          <p:nvPr/>
        </p:nvSpPr>
        <p:spPr>
          <a:xfrm>
            <a:off x="1771647" y="1942747"/>
            <a:ext cx="8515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Данные взяты с сайта </a:t>
            </a:r>
            <a:r>
              <a:rPr lang="ru-RU" dirty="0" err="1"/>
              <a:t>kaggle</a:t>
            </a:r>
            <a:r>
              <a:rPr lang="ru-RU" dirty="0"/>
              <a:t>  </a:t>
            </a:r>
            <a:r>
              <a:rPr lang="en-US" dirty="0"/>
              <a:t>(https://www.kaggle.com/</a:t>
            </a:r>
            <a:r>
              <a:rPr lang="ru-RU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2C70D-480D-4FE2-C4CE-34B963131292}"/>
              </a:ext>
            </a:extLst>
          </p:cNvPr>
          <p:cNvSpPr txBox="1"/>
          <p:nvPr/>
        </p:nvSpPr>
        <p:spPr>
          <a:xfrm>
            <a:off x="1771647" y="2180040"/>
            <a:ext cx="7313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Охвачен период 2016/08/02 - 2016/09/16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446A7C-3A16-76C4-3475-2B7906B663FB}"/>
              </a:ext>
            </a:extLst>
          </p:cNvPr>
          <p:cNvSpPr txBox="1"/>
          <p:nvPr/>
        </p:nvSpPr>
        <p:spPr>
          <a:xfrm>
            <a:off x="1771647" y="2435307"/>
            <a:ext cx="95603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Количество строк в исходном материале = число транзакций = 985322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C12994-1342-65B4-DCAB-634C278D5939}"/>
              </a:ext>
            </a:extLst>
          </p:cNvPr>
          <p:cNvSpPr txBox="1"/>
          <p:nvPr/>
        </p:nvSpPr>
        <p:spPr>
          <a:xfrm>
            <a:off x="3163661" y="689791"/>
            <a:ext cx="60987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Исследование банковских клиентов</a:t>
            </a:r>
            <a:endParaRPr lang="ru-R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04955E-327E-8C19-E52F-F42762C2C042}"/>
              </a:ext>
            </a:extLst>
          </p:cNvPr>
          <p:cNvSpPr txBox="1"/>
          <p:nvPr/>
        </p:nvSpPr>
        <p:spPr>
          <a:xfrm>
            <a:off x="4051530" y="2909128"/>
            <a:ext cx="4088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Результаты исследования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5AC42A-166C-239F-D2F0-FC904EAAD4B5}"/>
              </a:ext>
            </a:extLst>
          </p:cNvPr>
          <p:cNvSpPr txBox="1"/>
          <p:nvPr/>
        </p:nvSpPr>
        <p:spPr>
          <a:xfrm>
            <a:off x="1771647" y="3536837"/>
            <a:ext cx="921748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1. Уникальных клиентов  в рассматриваемом периоде:  -    839081</a:t>
            </a:r>
          </a:p>
          <a:p>
            <a:r>
              <a:rPr lang="ru-RU" dirty="0"/>
              <a:t>2.  Общее количество транзакций:  -  985322</a:t>
            </a:r>
          </a:p>
          <a:p>
            <a:r>
              <a:rPr lang="ru-RU" dirty="0"/>
              <a:t>3. Среднее количество транзакций на клиента, ( деление общего количества транзакций на число уникальных клиентов):  -   1.17</a:t>
            </a:r>
          </a:p>
          <a:p>
            <a:endParaRPr lang="ru-RU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3519C0-DF3C-F6F7-4D37-DFFF28766AAF}"/>
              </a:ext>
            </a:extLst>
          </p:cNvPr>
          <p:cNvSpPr txBox="1"/>
          <p:nvPr/>
        </p:nvSpPr>
        <p:spPr>
          <a:xfrm>
            <a:off x="1744433" y="4783331"/>
            <a:ext cx="10175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4. Распределение и размах величин </a:t>
            </a:r>
            <a:r>
              <a:rPr lang="ru-RU" dirty="0" err="1"/>
              <a:t>custaccountbalance</a:t>
            </a:r>
            <a:r>
              <a:rPr lang="ru-RU" dirty="0"/>
              <a:t> (баланс клиента ) и  </a:t>
            </a:r>
            <a:r>
              <a:rPr lang="ru-RU" dirty="0" err="1"/>
              <a:t>transactionamount</a:t>
            </a:r>
            <a:r>
              <a:rPr lang="ru-RU" dirty="0"/>
              <a:t>(</a:t>
            </a:r>
            <a:r>
              <a:rPr lang="ru-RU" dirty="0" err="1"/>
              <a:t>Inr</a:t>
            </a:r>
            <a:r>
              <a:rPr lang="ru-RU" dirty="0"/>
              <a:t>) (сумма транзакций) </a:t>
            </a:r>
          </a:p>
        </p:txBody>
      </p:sp>
    </p:spTree>
    <p:extLst>
      <p:ext uri="{BB962C8B-B14F-4D97-AF65-F5344CB8AC3E}">
        <p14:creationId xmlns:p14="http://schemas.microsoft.com/office/powerpoint/2010/main" val="400579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1050C8-9ADF-CBE9-D756-D5A0F8F9AE6A}"/>
              </a:ext>
            </a:extLst>
          </p:cNvPr>
          <p:cNvSpPr txBox="1"/>
          <p:nvPr/>
        </p:nvSpPr>
        <p:spPr>
          <a:xfrm>
            <a:off x="571500" y="612844"/>
            <a:ext cx="1138101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Описательная статистика:</a:t>
            </a:r>
          </a:p>
          <a:p>
            <a:r>
              <a:rPr lang="ru-RU" dirty="0"/>
              <a:t>                                               </a:t>
            </a:r>
            <a:r>
              <a:rPr lang="ru-RU" dirty="0" err="1"/>
              <a:t>custaccountbalance</a:t>
            </a:r>
            <a:r>
              <a:rPr lang="ru-RU" dirty="0"/>
              <a:t>     </a:t>
            </a:r>
            <a:r>
              <a:rPr lang="ru-RU" dirty="0" err="1"/>
              <a:t>transactionamount</a:t>
            </a:r>
            <a:r>
              <a:rPr lang="ru-RU" dirty="0"/>
              <a:t>(</a:t>
            </a:r>
            <a:r>
              <a:rPr lang="ru-RU" dirty="0" err="1"/>
              <a:t>Inr</a:t>
            </a:r>
            <a:r>
              <a:rPr lang="ru-RU" dirty="0"/>
              <a:t>)</a:t>
            </a:r>
          </a:p>
          <a:p>
            <a:r>
              <a:rPr lang="ru-RU" dirty="0"/>
              <a:t>                                   </a:t>
            </a:r>
            <a:r>
              <a:rPr lang="ru-RU" dirty="0" err="1"/>
              <a:t>count</a:t>
            </a:r>
            <a:r>
              <a:rPr lang="ru-RU" dirty="0"/>
              <a:t>        9.853220e+05            9.853220e+05— количество наблюдений;</a:t>
            </a:r>
          </a:p>
          <a:p>
            <a:r>
              <a:rPr lang="ru-RU" dirty="0"/>
              <a:t>                                   </a:t>
            </a:r>
            <a:r>
              <a:rPr lang="ru-RU" dirty="0" err="1"/>
              <a:t>mean</a:t>
            </a:r>
            <a:r>
              <a:rPr lang="ru-RU" dirty="0"/>
              <a:t>         1.060612e+05            1.452425e+03 — среднее;</a:t>
            </a:r>
          </a:p>
          <a:p>
            <a:r>
              <a:rPr lang="ru-RU" dirty="0"/>
              <a:t>                                  </a:t>
            </a:r>
            <a:r>
              <a:rPr lang="ru-RU" dirty="0" err="1"/>
              <a:t>std</a:t>
            </a:r>
            <a:r>
              <a:rPr lang="ru-RU" dirty="0"/>
              <a:t>            8.179054e+05            6.139765e+03  — стандартное отклонение (разброс);</a:t>
            </a:r>
          </a:p>
          <a:p>
            <a:r>
              <a:rPr lang="ru-RU" dirty="0"/>
              <a:t>                                  </a:t>
            </a:r>
            <a:r>
              <a:rPr lang="ru-RU" dirty="0" err="1"/>
              <a:t>min</a:t>
            </a:r>
            <a:r>
              <a:rPr lang="ru-RU" dirty="0"/>
              <a:t>          0.000000e+00            </a:t>
            </a:r>
            <a:r>
              <a:rPr lang="ru-RU" dirty="0" err="1"/>
              <a:t>0.000000e+00</a:t>
            </a:r>
            <a:r>
              <a:rPr lang="ru-RU" dirty="0"/>
              <a:t>  -    </a:t>
            </a:r>
            <a:r>
              <a:rPr lang="ru-RU" dirty="0" err="1"/>
              <a:t>min</a:t>
            </a:r>
            <a:r>
              <a:rPr lang="ru-RU" dirty="0"/>
              <a:t> / </a:t>
            </a:r>
            <a:r>
              <a:rPr lang="ru-RU" dirty="0" err="1"/>
              <a:t>max</a:t>
            </a:r>
            <a:r>
              <a:rPr lang="ru-RU" dirty="0"/>
              <a:t> — границы;</a:t>
            </a:r>
          </a:p>
          <a:p>
            <a:r>
              <a:rPr lang="ru-RU" dirty="0"/>
              <a:t>                                 25%          4.582132e+03            1.510000e+02 — квартили</a:t>
            </a:r>
          </a:p>
          <a:p>
            <a:r>
              <a:rPr lang="ru-RU" dirty="0"/>
              <a:t>                                 50%          1.600630e+04            4.310000e+02 - медиана</a:t>
            </a:r>
          </a:p>
          <a:p>
            <a:r>
              <a:rPr lang="ru-RU" dirty="0"/>
              <a:t>                                 75%          5.375908e+04            1.125000e+03 — квартили</a:t>
            </a:r>
          </a:p>
          <a:p>
            <a:r>
              <a:rPr lang="ru-RU" dirty="0"/>
              <a:t>                                 </a:t>
            </a:r>
            <a:r>
              <a:rPr lang="ru-RU" dirty="0" err="1"/>
              <a:t>max</a:t>
            </a:r>
            <a:r>
              <a:rPr lang="ru-RU" dirty="0"/>
              <a:t>          1.150355e+08            1.560035e+06  - </a:t>
            </a:r>
            <a:r>
              <a:rPr lang="ru-RU" dirty="0" err="1"/>
              <a:t>min</a:t>
            </a:r>
            <a:r>
              <a:rPr lang="ru-RU" dirty="0"/>
              <a:t> / </a:t>
            </a:r>
            <a:r>
              <a:rPr lang="ru-RU" dirty="0" err="1"/>
              <a:t>max</a:t>
            </a:r>
            <a:r>
              <a:rPr lang="ru-RU" dirty="0"/>
              <a:t> — границы;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                                            </a:t>
            </a:r>
            <a:r>
              <a:rPr lang="ru-RU" b="1" dirty="0"/>
              <a:t>Анализ гистограмм  </a:t>
            </a:r>
            <a:r>
              <a:rPr lang="ru-RU" dirty="0"/>
              <a:t>**Распределение баланса клиента  (</a:t>
            </a:r>
            <a:r>
              <a:rPr lang="ru-RU" dirty="0" err="1"/>
              <a:t>CustAccountBalance</a:t>
            </a:r>
            <a:r>
              <a:rPr lang="ru-RU" dirty="0"/>
              <a:t>)**  —( верхний график.) и  **Распределение суммы транзакций (</a:t>
            </a:r>
            <a:r>
              <a:rPr lang="ru-RU" dirty="0" err="1"/>
              <a:t>TransactionAmount</a:t>
            </a:r>
            <a:r>
              <a:rPr lang="ru-RU" dirty="0"/>
              <a:t> (INR))** —( нижний график.)  показывает, что  </a:t>
            </a:r>
          </a:p>
          <a:p>
            <a:r>
              <a:rPr lang="ru-RU" dirty="0"/>
              <a:t>-  Оба распределения **асимметричны с доминированием низких значений и редкими крупными выбросами**. Это характерно для ситуации, где **большая часть клиентов/операций — мелкие, а значительная масса средств/объёмов приходится на небольшую группу**</a:t>
            </a:r>
          </a:p>
          <a:p>
            <a:r>
              <a:rPr lang="ru-RU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2981920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F927DB5-74B2-5BB9-DA6E-ECB336E36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00" y="0"/>
            <a:ext cx="10312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955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929962-76A7-493E-ED8A-F64F84B40049}"/>
              </a:ext>
            </a:extLst>
          </p:cNvPr>
          <p:cNvSpPr txBox="1"/>
          <p:nvPr/>
        </p:nvSpPr>
        <p:spPr>
          <a:xfrm>
            <a:off x="555171" y="301428"/>
            <a:ext cx="11201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                                                                    Анализ «ящика с усами» (</a:t>
            </a:r>
            <a:r>
              <a:rPr lang="ru-RU" dirty="0" err="1"/>
              <a:t>box</a:t>
            </a:r>
            <a:r>
              <a:rPr lang="ru-RU" dirty="0"/>
              <a:t> </a:t>
            </a:r>
            <a:r>
              <a:rPr lang="ru-RU" dirty="0" err="1"/>
              <a:t>plot</a:t>
            </a:r>
            <a:r>
              <a:rPr lang="ru-RU" dirty="0"/>
              <a:t>) </a:t>
            </a:r>
          </a:p>
          <a:p>
            <a:r>
              <a:rPr lang="ru-RU" dirty="0"/>
              <a:t>для показателей «</a:t>
            </a:r>
            <a:r>
              <a:rPr lang="ru-RU" dirty="0" err="1"/>
              <a:t>CustAccountBalance</a:t>
            </a:r>
            <a:r>
              <a:rPr lang="ru-RU" dirty="0"/>
              <a:t>» и «</a:t>
            </a:r>
            <a:r>
              <a:rPr lang="ru-RU" dirty="0" err="1"/>
              <a:t>TransactionAmount</a:t>
            </a:r>
            <a:r>
              <a:rPr lang="ru-RU" dirty="0"/>
              <a:t> (INR)»   показывает, что </a:t>
            </a:r>
          </a:p>
          <a:p>
            <a:r>
              <a:rPr lang="ru-RU" dirty="0"/>
              <a:t> - **Размах значений:** -  баланс имеет гораздо более широкий диапазон (до 100 млн INR), чем сумма транзакции (до 1 млн INR) — логично, так как баланс аккумулирует средства, а транзакция фиксирует единичное движение.</a:t>
            </a:r>
          </a:p>
          <a:p>
            <a:r>
              <a:rPr lang="ru-RU" dirty="0"/>
              <a:t>-  **Асимметрия:** - оба распределения асимметричны, но у баланса асимметрия более выражена (больше влияния крупных значений).</a:t>
            </a:r>
          </a:p>
          <a:p>
            <a:r>
              <a:rPr lang="ru-RU" dirty="0"/>
              <a:t>-  **Выбросы:**  -  в обоих случаях присутствуют, но у баланса они значительно крупнее (на порядки выше, чем у транзакций).</a:t>
            </a:r>
          </a:p>
          <a:p>
            <a:r>
              <a:rPr lang="ru-RU" dirty="0"/>
              <a:t> -  **Концентрация в нуле:** - оба показателя демонстрируют наличие нулевых значений, что требует дополнительного анализа.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5546B58-3974-E21B-B0F2-36CF99C0B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71" y="3440749"/>
            <a:ext cx="11201400" cy="341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890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58B4EB-F217-DF3A-AD8E-15C2E480E781}"/>
              </a:ext>
            </a:extLst>
          </p:cNvPr>
          <p:cNvSpPr txBox="1"/>
          <p:nvPr/>
        </p:nvSpPr>
        <p:spPr>
          <a:xfrm>
            <a:off x="2563585" y="1305342"/>
            <a:ext cx="888274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5.  Возраст клиентов</a:t>
            </a:r>
            <a:r>
              <a:rPr lang="ru-RU" b="1" dirty="0"/>
              <a:t>. </a:t>
            </a:r>
          </a:p>
          <a:p>
            <a:endParaRPr lang="ru-RU" dirty="0"/>
          </a:p>
          <a:p>
            <a:r>
              <a:rPr lang="ru-RU" dirty="0"/>
              <a:t>Описательная статистика возраста клиентов:</a:t>
            </a:r>
          </a:p>
          <a:p>
            <a:r>
              <a:rPr lang="ru-RU" dirty="0" err="1"/>
              <a:t>count</a:t>
            </a:r>
            <a:r>
              <a:rPr lang="ru-RU" dirty="0"/>
              <a:t>    985322.000000 - количество наблюдений;</a:t>
            </a:r>
          </a:p>
          <a:p>
            <a:r>
              <a:rPr lang="ru-RU" dirty="0" err="1"/>
              <a:t>mean</a:t>
            </a:r>
            <a:r>
              <a:rPr lang="ru-RU" dirty="0"/>
              <a:t>         31.029537 - среднее</a:t>
            </a:r>
          </a:p>
          <a:p>
            <a:r>
              <a:rPr lang="ru-RU" dirty="0" err="1"/>
              <a:t>std</a:t>
            </a:r>
            <a:r>
              <a:rPr lang="ru-RU" dirty="0"/>
              <a:t>           8.757113 - стандартное отклонение (разброс)</a:t>
            </a:r>
          </a:p>
          <a:p>
            <a:r>
              <a:rPr lang="ru-RU" dirty="0" err="1"/>
              <a:t>min</a:t>
            </a:r>
            <a:r>
              <a:rPr lang="ru-RU" dirty="0"/>
              <a:t>           0.000000-  </a:t>
            </a:r>
            <a:r>
              <a:rPr lang="ru-RU" dirty="0" err="1"/>
              <a:t>min</a:t>
            </a:r>
            <a:r>
              <a:rPr lang="ru-RU" dirty="0"/>
              <a:t> / </a:t>
            </a:r>
            <a:r>
              <a:rPr lang="ru-RU" dirty="0" err="1"/>
              <a:t>max</a:t>
            </a:r>
            <a:r>
              <a:rPr lang="ru-RU" dirty="0"/>
              <a:t> — границы</a:t>
            </a:r>
          </a:p>
          <a:p>
            <a:r>
              <a:rPr lang="ru-RU" dirty="0"/>
              <a:t>25%          25.000000— квартили</a:t>
            </a:r>
          </a:p>
          <a:p>
            <a:r>
              <a:rPr lang="ru-RU" dirty="0"/>
              <a:t>50%          29.000000 - медиана</a:t>
            </a:r>
          </a:p>
          <a:p>
            <a:r>
              <a:rPr lang="ru-RU" dirty="0"/>
              <a:t>75%          34.000000 — квартили</a:t>
            </a:r>
          </a:p>
          <a:p>
            <a:r>
              <a:rPr lang="ru-RU" dirty="0" err="1"/>
              <a:t>max</a:t>
            </a:r>
            <a:r>
              <a:rPr lang="ru-RU" dirty="0"/>
              <a:t>          98.000000 - </a:t>
            </a:r>
            <a:r>
              <a:rPr lang="ru-RU" dirty="0" err="1"/>
              <a:t>min</a:t>
            </a:r>
            <a:r>
              <a:rPr lang="ru-RU" dirty="0"/>
              <a:t> / </a:t>
            </a:r>
            <a:r>
              <a:rPr lang="ru-RU" dirty="0" err="1"/>
              <a:t>max</a:t>
            </a:r>
            <a:r>
              <a:rPr lang="ru-RU" dirty="0"/>
              <a:t> — границы;</a:t>
            </a:r>
          </a:p>
          <a:p>
            <a:endParaRPr lang="ru-RU" dirty="0"/>
          </a:p>
          <a:p>
            <a:r>
              <a:rPr lang="ru-RU" dirty="0"/>
              <a:t>На графике распределения возраст наибольшего числа клиентов - -25 лет.</a:t>
            </a:r>
          </a:p>
        </p:txBody>
      </p:sp>
    </p:spTree>
    <p:extLst>
      <p:ext uri="{BB962C8B-B14F-4D97-AF65-F5344CB8AC3E}">
        <p14:creationId xmlns:p14="http://schemas.microsoft.com/office/powerpoint/2010/main" val="1852776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A618103-E61E-A04E-7FCA-1E78EC919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33425"/>
            <a:ext cx="10564586" cy="478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E40B27-D32E-04D7-DE0E-C9BE95290774}"/>
              </a:ext>
            </a:extLst>
          </p:cNvPr>
          <p:cNvSpPr txBox="1"/>
          <p:nvPr/>
        </p:nvSpPr>
        <p:spPr>
          <a:xfrm>
            <a:off x="3396343" y="5755243"/>
            <a:ext cx="7662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возраст наибольшего числа клиентов - -25 лет.</a:t>
            </a:r>
          </a:p>
        </p:txBody>
      </p:sp>
    </p:spTree>
    <p:extLst>
      <p:ext uri="{BB962C8B-B14F-4D97-AF65-F5344CB8AC3E}">
        <p14:creationId xmlns:p14="http://schemas.microsoft.com/office/powerpoint/2010/main" val="2828659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305A54-EF3F-4F9A-47DA-4FE5908F87C8}"/>
              </a:ext>
            </a:extLst>
          </p:cNvPr>
          <p:cNvSpPr txBox="1"/>
          <p:nvPr/>
        </p:nvSpPr>
        <p:spPr>
          <a:xfrm>
            <a:off x="832757" y="555171"/>
            <a:ext cx="10695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6. Половой состав клиентов: мужчины - 72,3%, женщины - 27,7%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425863E-7BCE-BEFC-464A-F2734D962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890" y="1123950"/>
            <a:ext cx="5353050" cy="5178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861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1DC9E9-15A1-B4C5-7B31-C53810EF8022}"/>
              </a:ext>
            </a:extLst>
          </p:cNvPr>
          <p:cNvSpPr txBox="1"/>
          <p:nvPr/>
        </p:nvSpPr>
        <p:spPr>
          <a:xfrm>
            <a:off x="914399" y="525921"/>
            <a:ext cx="98461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7. Анализ места жительства клиентов позывает первая тройка по кол-ву </a:t>
            </a:r>
            <a:r>
              <a:rPr lang="ru-RU" dirty="0" err="1"/>
              <a:t>клиетов</a:t>
            </a:r>
            <a:r>
              <a:rPr lang="ru-RU" dirty="0"/>
              <a:t>:  Мумбай, Бангалор, Нью Дели.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4F6C38-B0AD-CB91-0299-D2F714384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/tmp/ipython-input-3848756389.py:4: FutureWarning: Passing `palette` without assigning `hue` is deprecated and will be removed in v0.14.0. Assign the `x` variable to `hue` and set `legend=False` for the same effect. ax = sns.barplot(x=location_counts.index, y=location_counts.values, palette='viridis') </a:t>
            </a:r>
            <a:endParaRPr kumimoji="0" lang="ru-RU" altLang="ru-RU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ru-RU" altLang="ru-RU" sz="35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6DD9390-861A-E257-51B8-2D96E5F0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1172253"/>
            <a:ext cx="11325225" cy="5159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045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61A3E9-E3B3-EA25-6950-F52FE58520B2}"/>
              </a:ext>
            </a:extLst>
          </p:cNvPr>
          <p:cNvSpPr txBox="1"/>
          <p:nvPr/>
        </p:nvSpPr>
        <p:spPr>
          <a:xfrm>
            <a:off x="683078" y="426584"/>
            <a:ext cx="108258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8.  Динамика количества и суммы транзакций   по датам,: </a:t>
            </a:r>
          </a:p>
          <a:p>
            <a:r>
              <a:rPr lang="ru-RU" dirty="0"/>
              <a:t>Весь август и половину </a:t>
            </a:r>
            <a:r>
              <a:rPr lang="ru-RU" dirty="0" err="1"/>
              <a:t>сентяября</a:t>
            </a:r>
            <a:r>
              <a:rPr lang="ru-RU" dirty="0"/>
              <a:t> кол-во транзакций </a:t>
            </a:r>
            <a:r>
              <a:rPr lang="ru-RU" dirty="0" err="1"/>
              <a:t>держитя</a:t>
            </a:r>
            <a:r>
              <a:rPr lang="ru-RU" dirty="0"/>
              <a:t> примерно на одном уровне 20000, а к середине октября падает почти до нуля.</a:t>
            </a:r>
          </a:p>
          <a:p>
            <a:r>
              <a:rPr lang="ru-RU" dirty="0"/>
              <a:t>9. Динамика суммы транзакций ведет себя аналогично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DDD8E35-C2B9-1A44-B49F-087112462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193" y="1764167"/>
            <a:ext cx="9780814" cy="2677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C9DB0E0C-EAC5-5437-AEF4-D5117253D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235" y="4578625"/>
            <a:ext cx="9546772" cy="241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6332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B975D9-1B82-8744-44D2-2C72DD121F09}"/>
              </a:ext>
            </a:extLst>
          </p:cNvPr>
          <p:cNvSpPr txBox="1"/>
          <p:nvPr/>
        </p:nvSpPr>
        <p:spPr>
          <a:xfrm>
            <a:off x="783772" y="627413"/>
            <a:ext cx="10972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10. Согласно результатам анализа, наиболее платежеспособной является возрастная группа «26–35 лет».</a:t>
            </a:r>
          </a:p>
          <a:p>
            <a:r>
              <a:rPr lang="ru-RU" dirty="0"/>
              <a:t>*   Клиенты были успешно разделены на шесть возрастных групп: «0–18 лет», «19–25 лет», «26–35 лет», «36–50 лет», «51–65 лет» и «66+ лет».</a:t>
            </a:r>
          </a:p>
          <a:p>
            <a:r>
              <a:rPr lang="ru-RU" dirty="0"/>
              <a:t>*   Возрастная группа «от 26 до 35 лет» была самой многочисленной среди всех категорий.</a:t>
            </a:r>
          </a:p>
          <a:p>
            <a:r>
              <a:rPr lang="ru-RU" dirty="0"/>
              <a:t>*   Возрастная группа «от 26 до 35 лет» также совершила наибольшее количество транзакций, что делает её самой платёжеспособной группой, за которой следует возрастная группа «от 36 до 50 лет».</a:t>
            </a:r>
          </a:p>
          <a:p>
            <a:r>
              <a:rPr lang="ru-RU" dirty="0"/>
              <a:t>*   На гистограмме наглядно показаны общие суммы транзакций в этих возрастных группах, что ясно демонстрирует доминирование группы «от 26 до 35 лет».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BA9DEDB-AA0C-B3CB-9AC9-7FDB23455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458" y="2935737"/>
            <a:ext cx="10457770" cy="3758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565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BAC90B-2C5B-FC5F-5560-D0A8586B2C49}"/>
              </a:ext>
            </a:extLst>
          </p:cNvPr>
          <p:cNvSpPr txBox="1"/>
          <p:nvPr/>
        </p:nvSpPr>
        <p:spPr>
          <a:xfrm>
            <a:off x="617765" y="507934"/>
            <a:ext cx="109564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11. Сравнение 10 крупнейших городов по количеству транзакций и общей сумме транзакций показывает следующее:</a:t>
            </a:r>
          </a:p>
          <a:p>
            <a:r>
              <a:rPr lang="ru-RU" dirty="0"/>
              <a:t>*   **Общие города**: в обоих списках встречаются девять общих городов: «Мумбаи», «Бангалор», «Нью-Дели», «</a:t>
            </a:r>
            <a:r>
              <a:rPr lang="ru-RU" dirty="0" err="1"/>
              <a:t>Гургаон</a:t>
            </a:r>
            <a:r>
              <a:rPr lang="ru-RU" dirty="0"/>
              <a:t>», «Дели», «</a:t>
            </a:r>
            <a:r>
              <a:rPr lang="ru-RU" dirty="0" err="1"/>
              <a:t>Ноида</a:t>
            </a:r>
            <a:r>
              <a:rPr lang="ru-RU" dirty="0"/>
              <a:t>», «Ченнаи», «Пуна» и «Хайдарабад». Это указывает на то, что в этих крупных городских центрах наблюдается стабильно высокая активность и стоимость транзакций.</a:t>
            </a:r>
          </a:p>
          <a:p>
            <a:r>
              <a:rPr lang="ru-RU" dirty="0"/>
              <a:t>*   **Уникальность по количеству транзакций**: «Тане» входит в топ-10 по количеству транзакций. Это говорит о том, что в Тане большой объём транзакций, но их стоимость относительно невысока, что приводит к снижению общей стоимости транзакций.</a:t>
            </a:r>
          </a:p>
          <a:p>
            <a:r>
              <a:rPr lang="ru-RU" dirty="0"/>
              <a:t>*   **Уникальность по общей сумме транзакций**: «Колката» входит в топ-10 по общей сумме транзакций. Это означает, что, хотя в Калькутте может быть меньше транзакций, чем в таких местах, как Тейн, сумма транзакций в Калькутте значительно выше, что позволяет ей входить в топ-10.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2942D2-D7B1-6B84-E57B-5496233635DE}"/>
              </a:ext>
            </a:extLst>
          </p:cNvPr>
          <p:cNvSpPr txBox="1"/>
          <p:nvPr/>
        </p:nvSpPr>
        <p:spPr>
          <a:xfrm>
            <a:off x="751115" y="3738299"/>
            <a:ext cx="107469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### Основные выводы  *   **Сильное пересечение**: большое количество общих мест (9 из 10) указывает на то, что самые густонаселённые и экономически активные города, как правило, лидируют как по количеству, так и по общей сумме транзакций.</a:t>
            </a:r>
          </a:p>
          <a:p>
            <a:r>
              <a:rPr lang="ru-RU" dirty="0"/>
              <a:t>*   **Разница в объеме и стоимости**: Тане — пример района, где объем транзакций *выше*, а их стоимость относительно ниже. С другой стороны, Калькутта — пример района, где более высокая *стоимость* транзакции вносит значительный вклад в общую сумму, даже если количество транзакций не так велико.</a:t>
            </a:r>
          </a:p>
          <a:p>
            <a:r>
              <a:rPr lang="ru-RU" dirty="0"/>
              <a:t>*   **Доминирование Мумбаи**: Мумбаи неизменно занимает высокие позиции в обеих категориях, подтверждая свой статус основного финансового центра с высоким объемом и стоимостью транзакций.</a:t>
            </a:r>
          </a:p>
        </p:txBody>
      </p:sp>
    </p:spTree>
    <p:extLst>
      <p:ext uri="{BB962C8B-B14F-4D97-AF65-F5344CB8AC3E}">
        <p14:creationId xmlns:p14="http://schemas.microsoft.com/office/powerpoint/2010/main" val="2572702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5A50BD76-7918-D15B-EF2C-0C224D322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" y="331589"/>
            <a:ext cx="11325225" cy="294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20670152-5295-4140-330F-7CD0A48AF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" y="3737287"/>
            <a:ext cx="11325225" cy="2941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789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57100F-EE60-BC87-F203-AEA1B4BCB3A1}"/>
              </a:ext>
            </a:extLst>
          </p:cNvPr>
          <p:cNvSpPr txBox="1"/>
          <p:nvPr/>
        </p:nvSpPr>
        <p:spPr>
          <a:xfrm>
            <a:off x="783771" y="289207"/>
            <a:ext cx="1056458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  <a:p>
            <a:r>
              <a:rPr lang="ru-RU" dirty="0"/>
              <a:t>### Анализ средних сумм транзакций в зависимости от местоположения выявляет интересные закономерности в сравнении с количеством транзакций и их общей суммой:</a:t>
            </a:r>
          </a:p>
          <a:p>
            <a:r>
              <a:rPr lang="ru-RU" dirty="0"/>
              <a:t>*   В топ-10 локаций по средней сумме транзакций входит ряд локаций, для которых в первую очередь характерны очень высокие суммы отдельных транзакций (например, «ROOMFORD» — 117 621 индийских рупий, «MUNCHEN» — 112 592 индийских рупий).</a:t>
            </a:r>
          </a:p>
          <a:p>
            <a:r>
              <a:rPr lang="ru-RU" dirty="0"/>
              <a:t>*   Эти локации сильно отличаются от топ-10 локаций по количеству транзакций и общей сумме транзакций, среди которых преобладают крупные индийские города.</a:t>
            </a:r>
          </a:p>
          <a:p>
            <a:r>
              <a:rPr lang="ru-RU" dirty="0"/>
              <a:t>* Это говорит о том, что в местах с большим количеством транзакций и их общей суммой не обязательно самые высокие средние значения транзакций, и наоборот.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414D55C-CD20-1DCA-F26D-090AB1062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06" y="3151529"/>
            <a:ext cx="10564586" cy="359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4540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277BDE2-AA2D-98A9-2828-E2193D0F6247}"/>
              </a:ext>
            </a:extLst>
          </p:cNvPr>
          <p:cNvSpPr txBox="1"/>
          <p:nvPr/>
        </p:nvSpPr>
        <p:spPr>
          <a:xfrm>
            <a:off x="914399" y="878452"/>
            <a:ext cx="106135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12. распределение времени транзакций </a:t>
            </a:r>
          </a:p>
          <a:p>
            <a:r>
              <a:rPr lang="ru-RU" dirty="0"/>
              <a:t>-----График времени транзакций показывает:  время транзакций варьируется от минимальных значений (около 0 минут) до максимальных (около 4 минут).</a:t>
            </a:r>
          </a:p>
          <a:p>
            <a:r>
              <a:rPr lang="ru-RU" dirty="0"/>
              <a:t>Общая тенденция: большинство транзакций сосредоточено в нижней части диапазона (до 2–3 минут), что указывает на относительно быстрые операции.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CC80B2D-E95A-1D27-7C19-1363B4810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4" y="2355780"/>
            <a:ext cx="10863940" cy="4471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452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C12B43-26B8-0719-A3B2-D52B34B14450}"/>
              </a:ext>
            </a:extLst>
          </p:cNvPr>
          <p:cNvSpPr txBox="1"/>
          <p:nvPr/>
        </p:nvSpPr>
        <p:spPr>
          <a:xfrm>
            <a:off x="702128" y="506186"/>
            <a:ext cx="1007472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  <a:p>
            <a:r>
              <a:rPr lang="ru-RU" dirty="0"/>
              <a:t>----Анализ ящика c усами показывает:</a:t>
            </a:r>
          </a:p>
          <a:p>
            <a:r>
              <a:rPr lang="ru-RU" dirty="0"/>
              <a:t>Основная масса транзакций (50%) укладывается в диапазон от ~2 до ~3,3 минут (границы ящика).</a:t>
            </a:r>
          </a:p>
          <a:p>
            <a:r>
              <a:rPr lang="ru-RU" dirty="0"/>
              <a:t>Медиана (Q2) находится около 2,7–2,8 минут — это среднее время транзакции по выборке.</a:t>
            </a:r>
          </a:p>
          <a:p>
            <a:r>
              <a:rPr lang="ru-RU" dirty="0"/>
              <a:t>Первый квартиль (Q1) — около 2 минут (25% транзакций выполняются быстрее этого времени).</a:t>
            </a:r>
          </a:p>
          <a:p>
            <a:r>
              <a:rPr lang="ru-RU" dirty="0"/>
              <a:t>Третий квартиль (Q3) — около 3,3 минут (75% транзакций укладываются в это время).</a:t>
            </a:r>
          </a:p>
          <a:p>
            <a:r>
              <a:rPr lang="ru-RU" dirty="0"/>
              <a:t>Усы (диапазон «нормальных» значений):</a:t>
            </a:r>
          </a:p>
          <a:p>
            <a:r>
              <a:rPr lang="ru-RU" dirty="0"/>
              <a:t>Нижний ус: начинается около 0 минут — минимальное «нормальное» время транзакции.</a:t>
            </a:r>
          </a:p>
          <a:p>
            <a:r>
              <a:rPr lang="ru-RU" dirty="0"/>
              <a:t>Верхний ус: заканчивается около 4 минут — максимальное «нормальное» время транзакции.</a:t>
            </a:r>
          </a:p>
          <a:p>
            <a:r>
              <a:rPr lang="ru-RU" dirty="0"/>
              <a:t>Это говорит о том, что 95% транзакций укладываются в диапазон 0–4 минут.</a:t>
            </a:r>
          </a:p>
          <a:p>
            <a:r>
              <a:rPr lang="ru-RU" dirty="0"/>
              <a:t>Выбросы:</a:t>
            </a:r>
          </a:p>
          <a:p>
            <a:r>
              <a:rPr lang="ru-RU" dirty="0"/>
              <a:t>На графике видны выбросы слева (несколько точек около 0 минут) — аномально быстрые транзакции.</a:t>
            </a:r>
          </a:p>
          <a:p>
            <a:r>
              <a:rPr lang="ru-RU" dirty="0"/>
              <a:t>Выбросов справа (длительных транзакций) не наблюдается, что говорит о хорошем контроле времени обработки.</a:t>
            </a:r>
          </a:p>
          <a:p>
            <a:r>
              <a:rPr lang="ru-RU" dirty="0"/>
              <a:t>Асимметрия:</a:t>
            </a:r>
          </a:p>
          <a:p>
            <a:r>
              <a:rPr lang="ru-RU" dirty="0" err="1"/>
              <a:t>Boxplot</a:t>
            </a:r>
            <a:r>
              <a:rPr lang="ru-RU" dirty="0"/>
              <a:t> скошен влево (длинный ус слева, короткий — справа), что указывает на наличие аномально быстрых транзакций (близких к 0 минут).</a:t>
            </a:r>
          </a:p>
          <a:p>
            <a:r>
              <a:rPr lang="ru-RU" dirty="0"/>
              <a:t>Основная масса транзакций сконцентрирована в правой части распределения (ближе к медиане и Q3).</a:t>
            </a:r>
          </a:p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2373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066BF3E2-024D-A4D9-A815-D32D41FE9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228" y="1190625"/>
            <a:ext cx="6096000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913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0A825E-B87B-F817-7AF0-632E879E1D79}"/>
              </a:ext>
            </a:extLst>
          </p:cNvPr>
          <p:cNvSpPr txBox="1"/>
          <p:nvPr/>
        </p:nvSpPr>
        <p:spPr>
          <a:xfrm>
            <a:off x="898072" y="58847"/>
            <a:ext cx="1053192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Ключевые выводы:</a:t>
            </a:r>
          </a:p>
          <a:p>
            <a:r>
              <a:rPr lang="ru-RU" dirty="0"/>
              <a:t>Типичное время транзакции: 2,7–3,3 минуты (</a:t>
            </a:r>
            <a:r>
              <a:rPr lang="ru-RU" dirty="0" err="1"/>
              <a:t>интерквартильный</a:t>
            </a:r>
            <a:r>
              <a:rPr lang="ru-RU" dirty="0"/>
              <a:t> размах).</a:t>
            </a:r>
          </a:p>
          <a:p>
            <a:r>
              <a:rPr lang="ru-RU" dirty="0"/>
              <a:t>Минимальное время: около 0 минут (с учётом выбросов).</a:t>
            </a:r>
          </a:p>
          <a:p>
            <a:r>
              <a:rPr lang="ru-RU" dirty="0"/>
              <a:t>Максимальное «нормальное» время: около 4 минут.</a:t>
            </a:r>
          </a:p>
          <a:p>
            <a:r>
              <a:rPr lang="ru-RU" dirty="0"/>
              <a:t>Аномалии: присутствуют очень быстрые транзакции (выбросы слева), которые требуют дополнительного анализа.</a:t>
            </a:r>
          </a:p>
          <a:p>
            <a:r>
              <a:rPr lang="ru-RU" dirty="0"/>
              <a:t>Отсутствие длительных выбросов: это положительный сигнал — система обработки транзакций работает стабильно, без значительных задержек.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  ---- Анализ графика «Плотность распределения времени транзакций»</a:t>
            </a:r>
          </a:p>
          <a:p>
            <a:r>
              <a:rPr lang="ru-RU" dirty="0"/>
              <a:t>Пик плотности (мода): основной пик наблюдается около 3–3,3 минут. Это означает, что наиболее часто встречающееся время транзакции — около 3 минут.</a:t>
            </a:r>
          </a:p>
          <a:p>
            <a:r>
              <a:rPr lang="ru-RU" dirty="0"/>
              <a:t>Форма распределения: распределение асимметрично (скошено влево). Основная масса транзакций сосредоточена в правой части графика (ближе к 3 минутам), а левая часть (ближе к 0) имеет более низкие значения плотности.</a:t>
            </a:r>
          </a:p>
          <a:p>
            <a:r>
              <a:rPr lang="ru-RU" dirty="0"/>
              <a:t>Волнообразные колебания: небольшие пики и спады в диапазоне 1–3 минут указывают на многообразие типов транзакций с разным типичным временем обработки.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2537900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873B1D14-6791-FB18-D863-EF1FEA4A1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257" y="989239"/>
            <a:ext cx="8931729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437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86806778-E58D-EB11-DFF1-80F5CFDFA1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0100"/>
                    </a14:imgEffect>
                    <a14:imgEffect>
                      <a14:saturation sat="80000"/>
                    </a14:imgEffect>
                    <a14:imgEffect>
                      <a14:brightnessContrast bright="-5000" contrast="-5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640" t="11916" r="25019"/>
          <a:stretch>
            <a:fillRect/>
          </a:stretch>
        </p:blipFill>
        <p:spPr bwMode="auto">
          <a:xfrm>
            <a:off x="282630" y="-138522"/>
            <a:ext cx="11626735" cy="71350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77B9A7-877C-3F27-E7DB-B20EB2AE7FB7}"/>
              </a:ext>
            </a:extLst>
          </p:cNvPr>
          <p:cNvSpPr txBox="1"/>
          <p:nvPr/>
        </p:nvSpPr>
        <p:spPr>
          <a:xfrm>
            <a:off x="3049361" y="2248291"/>
            <a:ext cx="6098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i="0" dirty="0">
                <a:ln w="0">
                  <a:noFill/>
                </a:ln>
                <a:effectLst/>
                <a:latin typeface="Geometria"/>
              </a:rPr>
              <a:t>Спасибо за внимание!</a:t>
            </a:r>
            <a:endParaRPr lang="ru-RU" sz="3200" b="1" dirty="0">
              <a:ln w="0">
                <a:noFill/>
              </a:ln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9FC62-3E95-B2B8-5472-AB6DF247769B}"/>
              </a:ext>
            </a:extLst>
          </p:cNvPr>
          <p:cNvSpPr txBox="1"/>
          <p:nvPr/>
        </p:nvSpPr>
        <p:spPr>
          <a:xfrm>
            <a:off x="6098721" y="5236420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Исследование выполнил Александр  Глебовский</a:t>
            </a:r>
          </a:p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E-mail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vizitor1@mail.ru</a:t>
            </a:r>
            <a:endParaRPr lang="ru-R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5168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324</TotalTime>
  <Words>1639</Words>
  <Application>Microsoft Office PowerPoint</Application>
  <PresentationFormat>Широкоэкранный</PresentationFormat>
  <Paragraphs>108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 Unicode MS</vt:lpstr>
      <vt:lpstr>Arial</vt:lpstr>
      <vt:lpstr>Calibri</vt:lpstr>
      <vt:lpstr>Calibri Light</vt:lpstr>
      <vt:lpstr>Courier New</vt:lpstr>
      <vt:lpstr>Geometria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san</dc:creator>
  <cp:lastModifiedBy>Sana san</cp:lastModifiedBy>
  <cp:revision>3</cp:revision>
  <dcterms:created xsi:type="dcterms:W3CDTF">2026-01-21T17:56:56Z</dcterms:created>
  <dcterms:modified xsi:type="dcterms:W3CDTF">2026-01-22T12:27:03Z</dcterms:modified>
</cp:coreProperties>
</file>